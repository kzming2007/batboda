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55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0722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[20초]
내 땅에 이 작물을 심어도 될까. 밭보다는 좌표가 아니라 농지 경계를 먼저 확인합니다. 그 필지번호의 토양과 그 좌표의 예보를 작물별 공식 기준에 대조합니다.
금지 — 팀 소개 길게, 귀농 인구·실패율 통계, 기관 로고, 기능 목록.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[22초]
농지, 토양, 예보는 서로 다른 기관이 서로 다른 단위와 시각으로 냅니다. 초보자는 이 네 화면을 각각 찾아 자기 농지 값을 골라내고 작물 기준과 직접 대조해야 합니다.
금지 — 「대부분의 서비스는 시·군 평균만 제공한다」, 기존 서비스 비교표, 다른 팀·기관 이름.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[18초]
이 다섯 고리가 밭보다입니다. 뒤에 이어지는 4분은 이 다섯 개가 설명이 아니라 배포된 화면에서 실제로 이어진다는 것을 보이는 데 씁니다.
이 장이 비교 기준을 남기는 장이다. 발표 순서 1번이므로 심사위원이 뒤의 다섯 팀을 볼 때 쓸 낱말을 여기서 심는다.
금지 — API 개수·아키텍처 도해, 「필지 단위 서비스는 밭보다뿐」, 제목 아래 추가 설명 문장.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[70초 · 라이브]
0~8초  지번과 경계를 사람이 확인합니다.
8~15초  토양은 이 필지번호로, 예보는 이 좌표로 가져옵니다.
15~28초  판정과 함께 어떤 근거가 좋음·주의인지, 네 갈래 공공데이터가 응답했는지 같이 공개합니다.
28~42초  평균기온이 상추 공식 기준 15~20℃를 얼마나 벗어났는지 눈금으로, 기관과 기준시각까지 확인합니다.
42~62초  04에서는 판정은 규칙이 정했다고 밝히고, AI가 근거와 먼저 할 일을 쉬운 말로 옮깁니다.
금지 — 분석 소요 시간 수치, 후보 건수, 「어느 농지나 5초 안에」, 위험 라벨을 대사에 고정, 등급과 저해요인을 한 원인처럼 합쳐 말하기, 실패 원인 설명(전환 문장으로 바로 넘어간다).
수치는 화면에 보이는 값을 읽는다. 외운 값을 말하지 않는다.
■ 5초 규칙 — 한 동작을 누르고 5초 안에 다음 화면이 안 나오면 기다리지 않는다.
■ 고정 전환 문장(그대로 말한다) — “지금은 저장된 검증 장면으로 이어가며, 서비스에서는 실시간과 검증 스냅샷, 시연 자료를 구분해 표시합니다.”
■ 실패 원인을 설명하지 않는다. 위 문장을 말하고 이 장의 다섯 조각을 순서대로 넘긴다.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[28초]
같은 논 농지에서 사과를 고르면 과수 4급지, 상추를 고르면 밭 3급지를 씁니다. 작물을 바꾸면 근거가 갈립니다. 심사위원께서 다른 작물을 고르셔도 같은 방식으로 동작합니다.
이 장이 무대에서 실물로 보일 수 있는 가장 강한 판정 논리 증거다.
금지 — 필드 코드명, 등급 전수 표, 이 항목을 한계로 언급, 다른 서비스는 밭 등급만 쓴다는 추정.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[28초]
결론 문장은 AI가 썼지만, 판정을 정한 것은 규칙입니다. AI에는 확정된 근거만 넘기고, 문장이 판정이나 숫자를 바꾸면 같은 근거의 규칙 문장으로 대체합니다.
회귀 테스트 수치는 당일 아침 재실행 결과로 말한다.
금지 — 「AI가 모든 숫자 오류를 차단한다」, 프롬프트 전문·검사 항목 나열, 모델 이름·버전 고정(화면 배지가 실제 모델을 표시한다), 560 시나리오를 정확도로 제시. 위험 라벨 변동(완화 60% · 보수 10%)은 질의응답에서만.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[30초]
운영에서 중요한 것은 잘 될 때가 아니라 안 될 때입니다. 실패한 소스만 대체하고 이유를 남깁니다. 8월 3일에 인증이 실제로 막혔을 때 이 경로로 판정까지 이어지는 것을 확인했습니다. 가정이 아니라 겪은 일입니다.
금지 — 운영비 0원·운영 인력 없음, 지역 확대 건수, 발표장에서 장애를 라이브로 재현, 401 화면을 조작해 만든 캡처.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[28초]
농지 계약 전, 작물을 바꿀 때, 파종 전에 다시 옵니다. 재방문율은 아직 측정하지 않았습니다. 유료 고객과 확정 가격도 없습니다. 귀농귀촌센터·농업기술센터·농협 상담 창구를 첫 실증 파트너로 제안하고, 반복 사용이 확인되면 기관용 연간 라이선스를 검토하겠습니다.
「제안」과 「검토」를 반드시 말로도 붙인다. 금지 — 「센터가 매일 쓴다」, 기관 도입 확정, 시장 규모 수치, 라이선스 금액.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[26초]
세 가지만 말씀드립니다. 대관령 표본의 토양 산도 조회는 258필지 중 18건, 7.0%였고 없는 값을 다른 농지에서 채우지 않습니다. 예보는 3일이고, 관측소는 6.45km 떨어져 점수에 넣지 않습니다. 현장 정확도는 아직 없습니다. 그래서 참고 판정으로 한정합니다.
7.0%는 반드시 분모와 함께 말한다. 금지 — 한계 네 개 이상 나열(나머지는 질의응답), 과수·논 등급 미반영, 중기예보 구현 주장.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[12초]
내 농지를 경계로 확인하고, 같은 농지의 근거를 끝까지 되짚는 밭보다입니다. 지금 열어 보실 수 있습니다.
금지 — 새 기능·수치·로드맵, 감사 인사 전용 장, 팀 사진, 연락처.
여기서 멈추고 질의응답으로 넘어간다. 답변은 대본 v3 5절 28문.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7" y="566928"/>
            <a:ext cx="95704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 지역산업 문제기반 AI 해커톤 본선 · 기업 문제 1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66928" y="1481328"/>
            <a:ext cx="6309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것은 지역 평균이 아니라,</a:t>
            </a:r>
            <a:endParaRPr lang="en-US" sz="3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보고 있는</a:t>
            </a:r>
            <a:endParaRPr lang="en-US" sz="31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농지의 근거입니다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3736541"/>
            <a:ext cx="1847088" cy="908611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66928" y="3736541"/>
            <a:ext cx="1847088" cy="9086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밭보다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615184" y="3980534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 기반 농지 환경 판정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495604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김남궁택</a:t>
            </a:r>
            <a:endParaRPr lang="en-US" sz="1300" dirty="0">
              <a:solidFill>
                <a:srgbClr val="A7C0C8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남궁도현 · 김택명</a:t>
            </a:r>
            <a:endParaRPr lang="en-US" sz="1300" b="1" dirty="0"/>
          </a:p>
        </p:txBody>
      </p:sp>
      <p:pic>
        <p:nvPicPr>
          <p:cNvPr id="8" name="Image 0" descr="D:/Projects/batboda/발표/캡처/20260805_C01_대관령85-61전_경계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949" y="2283985"/>
            <a:ext cx="5922849" cy="333244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03 사용한 자료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자료가 없는 것이 아니라, 서로 다른 기관·단위에 있어</a:t>
            </a:r>
            <a:endParaRPr lang="en-US" sz="2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농지로 이어지지 않습니다</a:t>
            </a:r>
            <a:endParaRPr lang="en-US" sz="2700" dirty="0"/>
          </a:p>
        </p:txBody>
      </p:sp>
      <p:pic>
        <p:nvPicPr>
          <p:cNvPr id="4" name="Image 0" descr="D:/Projects/batboda/발표/캡처/20260805_C04_사용한자료_표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759" y="2596896"/>
            <a:ext cx="5363702" cy="39684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993392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갈래 · 기관도 단위도 기준시각도 다릅니다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13232"/>
            <a:ext cx="1105783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밭보다는 다섯 고리로 판정합니다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66928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경계 확인</a:t>
            </a:r>
            <a:endParaRPr lang="en-US" sz="1550" dirty="0"/>
          </a:p>
        </p:txBody>
      </p:sp>
      <p:pic>
        <p:nvPicPr>
          <p:cNvPr id="5" name="Image 0" descr="D:/Projects/batboda/발표/캡처/20260805_C01_대관령85-61전_경계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611532"/>
            <a:ext cx="1918960" cy="10796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485888" y="19293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851648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851648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필지번호 토양</a:t>
            </a:r>
            <a:endParaRPr lang="en-US" sz="1550" dirty="0"/>
          </a:p>
        </p:txBody>
      </p:sp>
      <p:pic>
        <p:nvPicPr>
          <p:cNvPr id="9" name="Image 1" descr="D:/Projects/batboda/발표/캡처/20260805_C02_판정서_상단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1648" y="3621677"/>
            <a:ext cx="1918960" cy="10593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70608" y="19293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5136368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5136368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작물별 공식 등급</a:t>
            </a:r>
            <a:endParaRPr lang="en-US" sz="1550" dirty="0"/>
          </a:p>
        </p:txBody>
      </p:sp>
      <p:pic>
        <p:nvPicPr>
          <p:cNvPr id="13" name="Image 2" descr="D:/Projects/batboda/발표/캡처/20260805_C06_유방동870답_상추_밭등급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6368" y="3450299"/>
            <a:ext cx="1918960" cy="140215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55328" y="19293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421088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7421088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좌표 예보</a:t>
            </a:r>
            <a:endParaRPr lang="en-US" sz="1550" dirty="0"/>
          </a:p>
        </p:txBody>
      </p:sp>
      <p:pic>
        <p:nvPicPr>
          <p:cNvPr id="17" name="Image 3" descr="D:/Projects/batboda/발표/캡처/20260805_C03_산도_기온_눈금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1088" y="2943560"/>
            <a:ext cx="1918960" cy="24156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340047" y="1929384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891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705807" y="157276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9705807" y="1920240"/>
            <a:ext cx="191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추적</a:t>
            </a:r>
            <a:endParaRPr lang="en-US" sz="1550" dirty="0"/>
          </a:p>
        </p:txBody>
      </p:sp>
      <p:pic>
        <p:nvPicPr>
          <p:cNvPr id="21" name="Image 4" descr="D:/Projects/batboda/발표/캡처/20260805_C04b_상태_기준시각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5807" y="2837270"/>
            <a:ext cx="1918960" cy="2628213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라이브 · 배포본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다섯 고리는 지금 배포된 서비스에서 실제로 이어집니다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47417" y="1531261"/>
            <a:ext cx="5577840" cy="841248"/>
          </a:xfrm>
          <a:prstGeom prst="roundRect">
            <a:avLst>
              <a:gd name="adj" fmla="val 8696"/>
            </a:avLst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947417" y="1531261"/>
            <a:ext cx="5577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batboda.vercel.app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947417" y="2555389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대관령면 85-61전 · 상추 · 3일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59665" y="2893717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지금부터 보실 순서</a:t>
            </a:r>
            <a:endParaRPr lang="en-US" sz="1400" dirty="0"/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BB4D2DEE-2206-89D7-11AB-62906577FE01}"/>
              </a:ext>
            </a:extLst>
          </p:cNvPr>
          <p:cNvGrpSpPr/>
          <p:nvPr/>
        </p:nvGrpSpPr>
        <p:grpSpPr>
          <a:xfrm>
            <a:off x="978736" y="3080810"/>
            <a:ext cx="10588752" cy="3550092"/>
            <a:chOff x="978736" y="3080810"/>
            <a:chExt cx="10588752" cy="3550092"/>
          </a:xfrm>
        </p:grpSpPr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F86E9C62-7805-1EE6-3272-0138EFA356A4}"/>
                </a:ext>
              </a:extLst>
            </p:cNvPr>
            <p:cNvGrpSpPr/>
            <p:nvPr/>
          </p:nvGrpSpPr>
          <p:grpSpPr>
            <a:xfrm>
              <a:off x="978736" y="3080810"/>
              <a:ext cx="10588752" cy="2541916"/>
              <a:chOff x="2212848" y="3429000"/>
              <a:chExt cx="5175504" cy="1174090"/>
            </a:xfrm>
          </p:grpSpPr>
          <p:pic>
            <p:nvPicPr>
              <p:cNvPr id="8" name="Image 0" descr="D:/Projects/batboda/발표/캡처/20260805_C01_대관령85-61전_경계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2848" y="3753660"/>
                <a:ext cx="932688" cy="524770"/>
              </a:xfrm>
              <a:prstGeom prst="rect">
                <a:avLst/>
              </a:prstGeom>
            </p:spPr>
          </p:pic>
          <p:pic>
            <p:nvPicPr>
              <p:cNvPr id="10" name="Image 1" descr="D:/Projects/batboda/발표/캡처/20260805_C02_판정서_상단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273552" y="3758591"/>
                <a:ext cx="932688" cy="514908"/>
              </a:xfrm>
              <a:prstGeom prst="rect">
                <a:avLst/>
              </a:prstGeom>
            </p:spPr>
          </p:pic>
          <p:pic>
            <p:nvPicPr>
              <p:cNvPr id="12" name="Image 2" descr="D:/Projects/batboda/발표/캡처/20260805_C03_산도_기온_눈금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334256" y="3429000"/>
                <a:ext cx="932688" cy="1174090"/>
              </a:xfrm>
              <a:prstGeom prst="rect">
                <a:avLst/>
              </a:prstGeom>
            </p:spPr>
          </p:pic>
          <p:pic>
            <p:nvPicPr>
              <p:cNvPr id="14" name="Image 3" descr="D:/Projects/batboda/발표/캡처/20260805_C04_사용한자료_표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94960" y="3671006"/>
                <a:ext cx="932688" cy="690077"/>
              </a:xfrm>
              <a:prstGeom prst="rect">
                <a:avLst/>
              </a:prstGeom>
            </p:spPr>
          </p:pic>
          <p:pic>
            <p:nvPicPr>
              <p:cNvPr id="16" name="Image 4" descr="D:/Projects/batboda/발표/캡처/20260805_C07_04_상단_결론과근거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55664" y="3652171"/>
                <a:ext cx="932688" cy="727748"/>
              </a:xfrm>
              <a:prstGeom prst="rect">
                <a:avLst/>
              </a:prstGeom>
            </p:spPr>
          </p:pic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CD5689C0-3678-C16A-7B97-5B6C9B861E2F}"/>
                </a:ext>
              </a:extLst>
            </p:cNvPr>
            <p:cNvGrpSpPr/>
            <p:nvPr/>
          </p:nvGrpSpPr>
          <p:grpSpPr>
            <a:xfrm>
              <a:off x="1178721" y="5396462"/>
              <a:ext cx="10188784" cy="1234440"/>
              <a:chOff x="2212848" y="5232197"/>
              <a:chExt cx="5175504" cy="256032"/>
            </a:xfrm>
          </p:grpSpPr>
          <p:sp>
            <p:nvSpPr>
              <p:cNvPr id="9" name="Text 6"/>
              <p:cNvSpPr/>
              <p:nvPr/>
            </p:nvSpPr>
            <p:spPr>
              <a:xfrm>
                <a:off x="2212848" y="5232197"/>
                <a:ext cx="932688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B5A72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농지 경계</a:t>
                </a:r>
                <a:endParaRPr lang="en-US" sz="2400" dirty="0"/>
              </a:p>
            </p:txBody>
          </p:sp>
          <p:sp>
            <p:nvSpPr>
              <p:cNvPr id="11" name="Text 7"/>
              <p:cNvSpPr/>
              <p:nvPr/>
            </p:nvSpPr>
            <p:spPr>
              <a:xfrm>
                <a:off x="3273552" y="5232197"/>
                <a:ext cx="932688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B5A72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판정과 상태</a:t>
                </a:r>
                <a:endParaRPr lang="en-US" sz="2400" dirty="0"/>
              </a:p>
            </p:txBody>
          </p:sp>
          <p:sp>
            <p:nvSpPr>
              <p:cNvPr id="13" name="Text 8"/>
              <p:cNvSpPr/>
              <p:nvPr/>
            </p:nvSpPr>
            <p:spPr>
              <a:xfrm>
                <a:off x="4334256" y="5232197"/>
                <a:ext cx="932688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B5A72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기준 대조</a:t>
                </a:r>
                <a:endParaRPr lang="en-US" sz="2400" dirty="0"/>
              </a:p>
            </p:txBody>
          </p:sp>
          <p:sp>
            <p:nvSpPr>
              <p:cNvPr id="15" name="Text 9"/>
              <p:cNvSpPr/>
              <p:nvPr/>
            </p:nvSpPr>
            <p:spPr>
              <a:xfrm>
                <a:off x="5394960" y="5232197"/>
                <a:ext cx="932688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B5A72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출처 추적</a:t>
                </a:r>
                <a:endParaRPr lang="en-US" sz="2400" dirty="0"/>
              </a:p>
            </p:txBody>
          </p:sp>
          <p:sp>
            <p:nvSpPr>
              <p:cNvPr id="17" name="Text 10"/>
              <p:cNvSpPr/>
              <p:nvPr/>
            </p:nvSpPr>
            <p:spPr>
              <a:xfrm>
                <a:off x="6455664" y="5232197"/>
                <a:ext cx="932688" cy="25603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B5A72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쉬운 말</a:t>
                </a:r>
                <a:endParaRPr lang="en-US" sz="2400" dirty="0"/>
              </a:p>
            </p:txBody>
          </p:sp>
        </p:grpSp>
      </p:grpSp>
      <p:sp>
        <p:nvSpPr>
          <p:cNvPr id="18" name="Text 11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02 토양 적성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49808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농지라도 작물이 바뀌면,</a:t>
            </a:r>
            <a:endParaRPr lang="en-US" sz="27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판정에 쓰는 공식 등급 자체가 바뀝니다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2103120"/>
            <a:ext cx="11057839" cy="512064"/>
          </a:xfrm>
          <a:prstGeom prst="roundRect">
            <a:avLst>
              <a:gd name="adj" fmla="val 10714"/>
            </a:avLst>
          </a:prstGeom>
          <a:solidFill>
            <a:srgbClr val="F1F4F5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49808" y="2103120"/>
            <a:ext cx="10692079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농지 · 경기 이천시 유방동 870답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66928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847088" y="2834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1847088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과수 4급지</a:t>
            </a:r>
            <a:endParaRPr lang="en-US" sz="1400" dirty="0"/>
          </a:p>
        </p:txBody>
      </p:sp>
      <p:pic>
        <p:nvPicPr>
          <p:cNvPr id="9" name="Image 0" descr="D:/Projects/batboda/발표/캡처/20260805_C05_유방동870답_사과_과수등급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605" y="3273552"/>
            <a:ext cx="3604117" cy="2633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251296" y="28163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상추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531456" y="283464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7531456" y="2834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3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 3급지</a:t>
            </a:r>
            <a:endParaRPr lang="en-US" sz="1400" dirty="0"/>
          </a:p>
        </p:txBody>
      </p:sp>
      <p:pic>
        <p:nvPicPr>
          <p:cNvPr id="13" name="Image 1" descr="D:/Projects/batboda/발표/캡처/20260805_C06_유방동870답_상추_밭등급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973" y="3273552"/>
            <a:ext cx="3604117" cy="2633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사과·배는 과수 등급, 상추·오이·감자는 밭 등급을 쓴다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04 · 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판정은 규칙이 확정하고, AI는 그 근거를 초보자 말로 옮깁니다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00784"/>
            <a:ext cx="110578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검사에 걸리면 같은 근거의 규칙 문장으로 되돌아갑니다</a:t>
            </a:r>
            <a:endParaRPr lang="en-US" sz="1600" dirty="0"/>
          </a:p>
        </p:txBody>
      </p:sp>
      <p:pic>
        <p:nvPicPr>
          <p:cNvPr id="5" name="Image 0" descr="D:/Projects/batboda/발표/캡처/20260805_C07_04_상단_결론과근거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12" y="2286000"/>
            <a:ext cx="3914158" cy="3054096"/>
          </a:xfrm>
          <a:prstGeom prst="rect">
            <a:avLst/>
          </a:prstGeom>
        </p:spPr>
      </p:pic>
      <p:pic>
        <p:nvPicPr>
          <p:cNvPr id="6" name="Image 1" descr="D:/Projects/batboda/발표/캡처/20260805_C08_설명생성_5단계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270" y="3272761"/>
            <a:ext cx="7126898" cy="175972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66928" y="5468112"/>
            <a:ext cx="11057839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4"/>
          <p:cNvSpPr/>
          <p:nvPr/>
        </p:nvSpPr>
        <p:spPr>
          <a:xfrm>
            <a:off x="749808" y="5541264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13파일 115건 회귀 테스트 통과 · 560 시나리오에서 주 판정 단계 변동 0/0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749808" y="5852160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회귀와 산식 민감도 근거이며, 현장 정확도 검증이 아닙니다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03 상태·기준시각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API가 죽어도 판단은 이어지고,</a:t>
            </a:r>
            <a:endParaRPr lang="en-US" sz="28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소스마다 상태와 기준시각을 따로 남깁니다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9385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 쓰는 세 가지 표시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806787" cy="713232"/>
          </a:xfrm>
          <a:prstGeom prst="roundRect">
            <a:avLst>
              <a:gd name="adj" fmla="val 7692"/>
            </a:avLst>
          </a:prstGeom>
          <a:solidFill>
            <a:srgbClr val="DCECDF"/>
          </a:solidFill>
          <a:ln w="12700">
            <a:solidFill>
              <a:srgbClr val="1C6F3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768095" y="2359152"/>
            <a:ext cx="3468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6F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연결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68095" y="2651760"/>
            <a:ext cx="34684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6F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호출해 받은 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163824"/>
            <a:ext cx="3806787" cy="713232"/>
          </a:xfrm>
          <a:prstGeom prst="roundRect">
            <a:avLst>
              <a:gd name="adj" fmla="val 7692"/>
            </a:avLst>
          </a:prstGeom>
          <a:solidFill>
            <a:srgbClr val="CFFAFE"/>
          </a:solidFill>
          <a:ln w="12700">
            <a:solidFill>
              <a:srgbClr val="0B5A7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68095" y="3236976"/>
            <a:ext cx="3468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스냅샷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8095" y="3529584"/>
            <a:ext cx="34684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저장해 둔 실호출 응답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4041648"/>
            <a:ext cx="3806787" cy="713232"/>
          </a:xfrm>
          <a:prstGeom prst="roundRect">
            <a:avLst>
              <a:gd name="adj" fmla="val 7692"/>
            </a:avLst>
          </a:prstGeom>
          <a:solidFill>
            <a:srgbClr val="FBE7AB"/>
          </a:solidFill>
          <a:ln w="12700">
            <a:solidFill>
              <a:srgbClr val="8A580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68095" y="4114800"/>
            <a:ext cx="3468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58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시연용 자료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68095" y="4407408"/>
            <a:ext cx="34684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58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실데이터가 아님을 표시</a:t>
            </a:r>
            <a:endParaRPr lang="en-US" sz="1200" dirty="0"/>
          </a:p>
        </p:txBody>
      </p:sp>
      <p:pic>
        <p:nvPicPr>
          <p:cNvPr id="14" name="Image 0" descr="D:/Projects/batboda/발표/캡처/20260805_C04b_상태_기준시각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529" y="1956957"/>
            <a:ext cx="3386175" cy="4637715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101584" y="1938528"/>
            <a:ext cx="3529584" cy="1883664"/>
          </a:xfrm>
          <a:prstGeom prst="roundRect">
            <a:avLst>
              <a:gd name="adj" fmla="val 2913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3"/>
          <p:cNvSpPr/>
          <p:nvPr/>
        </p:nvSpPr>
        <p:spPr>
          <a:xfrm>
            <a:off x="8284464" y="2066544"/>
            <a:ext cx="31638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2026-08-03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공공데이터 인증이 실제로 막혔습니다 (HTTP 401)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284464" y="2779776"/>
            <a:ext cx="3163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실패한 소스만 대체하고 이유를 남기는 경로로 판정까지 이어지는 것을 그때 확인했습니다. 가정이 아니라 겪은 일입니다.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101584" y="402336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5A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실패한 소스만 대체하고, 나머지는 실시간을 그대로 씁니다.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01 내 농지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반복 사용은 매일이 아니라, 판단이 필요한 사건마다입니다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50976" y="221284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농지를 계약하기 전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29992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50976" y="299923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심을 작물을 바꿀 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3785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50976" y="3785616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파종 전 가까운 기간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66928" y="4626864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농지는 즐겨찾기로 담아 두고, 브라우저에만 저장합니다. 서버로 보내지 않습니다.</a:t>
            </a:r>
            <a:endParaRPr lang="en-US" sz="1250" dirty="0"/>
          </a:p>
        </p:txBody>
      </p:sp>
      <p:pic>
        <p:nvPicPr>
          <p:cNvPr id="11" name="Image 0" descr="D:/Projects/batboda/발표/캡처/20260805_C09_내농지_즐겨찾기.png"/>
          <p:cNvPicPr>
            <a:picLocks noChangeAspect="1"/>
          </p:cNvPicPr>
          <p:nvPr/>
        </p:nvPicPr>
        <p:blipFill>
          <a:blip r:embed="rId3"/>
          <a:srcRect r="51091"/>
          <a:stretch>
            <a:fillRect/>
          </a:stretch>
        </p:blipFill>
        <p:spPr>
          <a:xfrm>
            <a:off x="5175504" y="2130552"/>
            <a:ext cx="5641930" cy="1764853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175504" y="4754880"/>
            <a:ext cx="6455664" cy="148132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5376672" y="4901184"/>
            <a:ext cx="1170432" cy="329184"/>
          </a:xfrm>
          <a:prstGeom prst="roundRect">
            <a:avLst>
              <a:gd name="adj" fmla="val 50000"/>
            </a:avLst>
          </a:prstGeom>
          <a:solidFill>
            <a:srgbClr val="FBE7AB"/>
          </a:solidFill>
          <a:ln w="12700">
            <a:solidFill>
              <a:srgbClr val="E0C59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5376672" y="4901184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8A580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실증 제안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376672" y="5303520"/>
            <a:ext cx="605332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귀농귀촌센터·농업기술센터·농협 상담 창구를 첫 실증 파트너로 제안하고, 반복 사용이 확인되면 기관용 연간 라이선스를 검토하겠습니다.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32927" y="3840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E749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근거 · 03 관측·판정 방식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822960"/>
            <a:ext cx="11057839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하는 것을 화면에 적어 두고, 다음 검증 순서를 정해 두었습니다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157984"/>
            <a:ext cx="4215581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768096" y="2240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토양 산도 조회율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68096" y="2505456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대관령 반경 1km · 258필지 중 18건 = 7.0%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68096" y="2761488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없는 값을 다른 농지에서 채우지 않습니다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200400"/>
            <a:ext cx="503130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768096" y="32826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예보 기간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" y="354787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3일 단기예보만 · 중기예보 미구현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68096" y="380390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 기간을 넘는 위험은 말하지 않습니다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242816"/>
            <a:ext cx="5820715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DDE4E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768096" y="4325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가까운 관측소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" y="459028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181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6.45km · 강릉 안반덕이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8096" y="484632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36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거리를 적고 점수에 넣지 않습니다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5358384"/>
            <a:ext cx="6675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B1332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현장 정확도는 아직 검증하지 않았습니다. 그래서 참고 판정으로 한정합니다.</a:t>
            </a:r>
            <a:endParaRPr lang="en-US" sz="1450" dirty="0"/>
          </a:p>
        </p:txBody>
      </p:sp>
      <p:pic>
        <p:nvPicPr>
          <p:cNvPr id="17" name="Image 0" descr="D:/Projects/batboda/발표/캡처/20260805_C10_최근관측_관측소거리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017" y="2141307"/>
            <a:ext cx="5827151" cy="968190"/>
          </a:xfrm>
          <a:prstGeom prst="rect">
            <a:avLst/>
          </a:prstGeom>
        </p:spPr>
      </p:pic>
      <p:pic>
        <p:nvPicPr>
          <p:cNvPr id="18" name="Image 1" descr="D:/Projects/batboda/발표/캡처/20260805_C11_현재판정방식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78" y="3264408"/>
            <a:ext cx="4888290" cy="2066963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9C4C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6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737360"/>
            <a:ext cx="6309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농지 경계부터 근거의 출처까지,</a:t>
            </a:r>
            <a:endParaRPr lang="en-US" sz="3100" dirty="0"/>
          </a:p>
          <a:p>
            <a:pPr marL="0" indent="0">
              <a:lnSpc>
                <a:spcPct val="11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땅 단위 참고 판정입니다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566928" y="3858768"/>
            <a:ext cx="1847088" cy="420624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66928" y="3858768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밭보다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2615184" y="3858768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FFA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batboda.vercel.app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459028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7C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열어 보실 수 있습니다.</a:t>
            </a:r>
            <a:endParaRPr lang="en-US" sz="1500" dirty="0"/>
          </a:p>
        </p:txBody>
      </p:sp>
      <p:pic>
        <p:nvPicPr>
          <p:cNvPr id="7" name="Image 0" descr="D:/Projects/batboda/발표/캡처/20260805_C12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7184" y="1481328"/>
            <a:ext cx="2103120" cy="2103120"/>
          </a:xfrm>
          <a:prstGeom prst="rect">
            <a:avLst/>
          </a:prstGeom>
        </p:spPr>
      </p:pic>
      <p:pic>
        <p:nvPicPr>
          <p:cNvPr id="8" name="Image 1" descr="D:/Projects/batboda/발표/캡처/20260805_C01_대관령85-61전_경계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1233" y="3822795"/>
            <a:ext cx="4874496" cy="27425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84687" y="6291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B45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1309</Words>
  <Application>Microsoft Office PowerPoint</Application>
  <PresentationFormat>와이드스크린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밭보다 — 공공데이터 기반 농지 환경 판정</dc:title>
  <dc:subject>PptxGenJS Presentation</dc:subject>
  <dc:creator>김남궁택</dc:creator>
  <cp:lastModifiedBy>남궁도현</cp:lastModifiedBy>
  <cp:revision>2</cp:revision>
  <dcterms:created xsi:type="dcterms:W3CDTF">2026-08-05T00:43:26Z</dcterms:created>
  <dcterms:modified xsi:type="dcterms:W3CDTF">2026-08-05T01:04:14Z</dcterms:modified>
</cp:coreProperties>
</file>