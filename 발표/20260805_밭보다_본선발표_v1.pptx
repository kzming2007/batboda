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[20초]
내 땅에 이 작물을 심어도 될까. 밭보다는 좌표가 아니라 농지 경계를 먼저 확인합니다. 그 필지번호의 토양과 그 좌표의 예보를 작물별 공식 기준에 대조합니다.
금지 — 팀 소개 길게, 귀농 인구·실패율 통계, 기관 로고, 기능 목록.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[22초]
농지, 토양, 예보는 서로 다른 기관이 서로 다른 단위와 시각으로 냅니다. 초보자는 이 네 화면을 각각 찾아 자기 농지 값을 골라내고 작물 기준과 직접 대조해야 합니다.
금지 — 「대부분의 서비스는 시·군 평균만 제공한다」, 기존 서비스 비교표, 다른 팀·기관 이름.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[18초]
이 다섯 고리가 밭보다입니다. 뒤에 이어지는 4분은 이 다섯 개가 설명이 아니라 배포된 화면에서 실제로 이어진다는 것을 보이는 데 씁니다.
이 장이 비교 기준을 남기는 장이다. 발표 순서 1번이므로 심사위원이 뒤의 다섯 팀을 볼 때 쓸 낱말을 여기서 심는다.
금지 — API 개수·아키텍처 도해, 「필지 단위 서비스는 밭보다뿐」, 제목 아래 추가 설명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[70초 · 라이브]
0~8초  지번과 경계를 사람이 확인합니다.
8~15초  토양은 이 필지번호로, 예보는 이 좌표로 가져옵니다.
15~28초  판정과 함께 어떤 근거가 좋음·주의인지, 네 갈래 공공데이터가 응답했는지 같이 공개합니다.
28~42초  평균기온이 상추 공식 기준 15~20℃를 얼마나 벗어났는지 눈금으로, 기관과 기준시각까지 확인합니다.
42~62초  04에서는 판정은 규칙이 정했다고 밝히고, AI가 근거와 먼저 할 일을 쉬운 말로 옮깁니다.
금지 — 분석 소요 시간 수치, 후보 건수, 「어느 농지나 5초 안에」, 위험 라벨을 대사에 고정, 등급과 저해요인을 한 원인처럼 합쳐 말하기, 실패 원인 설명(전환 문장으로 바로 넘어간다).
수치는 화면에 보이는 값을 읽는다. 외운 값을 말하지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[28초]
같은 논 농지에서 사과를 고르면 과수 4급지, 상추를 고르면 밭 3급지를 씁니다. 작물을 바꾸면 근거가 갈립니다. 심사위원께서 다른 작물을 고르셔도 같은 방식으로 동작합니다.
이 장이 무대에서 실물로 보일 수 있는 가장 강한 판정 논리 증거다.
금지 — 필드 코드명, 등급 전수 표, 이 항목을 한계로 언급, 다른 서비스는 밭 등급만 쓴다는 추정.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[28초]
결론 문장은 AI가 썼지만, 판정을 정한 것은 규칙입니다. AI에는 확정된 근거만 넘기고, 문장이 판정이나 숫자를 바꾸면 같은 근거의 규칙 문장으로 대체합니다.
회귀 테스트 수치는 당일 아침 재실행 결과로 말한다.
금지 — 「AI가 모든 숫자 오류를 차단한다」, 프롬프트 전문·검사 항목 나열, 모델 이름·버전 고정(화면 배지가 실제 모델을 표시한다), 560 시나리오를 정확도로 제시. 위험 라벨 변동(완화 60% · 보수 10%)은 질의응답에서만.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[30초]
운영에서 중요한 것은 잘 될 때가 아니라 안 될 때입니다. 실패한 소스만 대체하고 이유를 남깁니다. 8월 3일에 인증이 실제로 막혔을 때 이 경로로 판정까지 이어지는 것을 확인했습니다. 가정이 아니라 겪은 일입니다.
금지 — 운영비 0원·운영 인력 없음, 지역 확대 건수, 발표장에서 장애를 라이브로 재현, 401 화면을 조작해 만든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[28초]
농지 계약 전, 작물을 바꿀 때, 파종 전에 다시 옵니다. 재방문율은 아직 측정하지 않았습니다. 유료 고객과 확정 가격도 없습니다. 귀농귀촌센터·농업기술센터·농협 상담 창구를 첫 실증 파트너로 제안하고, 반복 사용이 확인되면 기관용 연간 라이선스를 검토하겠습니다.
「제안」과 「검토」를 반드시 말로도 붙인다. 금지 — 「센터가 매일 쓴다」, 기관 도입 확정, 시장 규모 수치, 라이선스 금액.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[26초]
세 가지만 말씀드립니다. 대관령 표본의 토양 산도 조회는 258필지 중 18건, 7.0%였고 없는 값을 다른 농지에서 채우지 않습니다. 예보는 3일이고, 관측소는 6.45km 떨어져 점수에 넣지 않습니다. 현장 정확도는 아직 없습니다. 그래서 참고 판정으로 한정합니다.
7.0%는 반드시 분모와 함께 말한다. 금지 — 한계 네 개 이상 나열(나머지는 질의응답), 과수·논 등급 미반영, 중기예보 구현 주장.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[12초]
내 농지를 경계로 확인하고, 같은 농지의 근거를 끝까지 되짚는 밭보다입니다. 지금 열어 보실 수 있습니다.
금지 — 새 기능·수치·로드맵, 감사 인사 전용 장, 팀 사진, 연락처.
여기서 멈추고 질의응답으로 넘어간다. 답변은 대본 v3 5절 28문.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지역산업 문제기반 AI 해커톤 본선 · 기업 문제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1481328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것은 지역 평균이 아니라,</a:t>
            </a:r>
            <a:endParaRPr lang="en-US" sz="3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보고 있는</a:t>
            </a:r>
            <a:endParaRPr lang="en-US" sz="3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농지의 근거입니다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4224528"/>
            <a:ext cx="1847088" cy="42062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2245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밭보다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615184" y="42245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기반 농지 환경 판정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4956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김남궁택 · 남궁도현 · 김택명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87184" y="1170432"/>
            <a:ext cx="4434840" cy="4242816"/>
          </a:xfrm>
          <a:prstGeom prst="roundRect">
            <a:avLst>
              <a:gd name="adj" fmla="val 862"/>
            </a:avLst>
          </a:prstGeom>
          <a:solidFill>
            <a:srgbClr val="17323C"/>
          </a:solidFill>
          <a:ln w="12700">
            <a:solidFill>
              <a:srgbClr val="2B455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33488" y="1280160"/>
            <a:ext cx="4142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 · 01-B 실제 농지 확인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33488" y="1554480"/>
            <a:ext cx="4142232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대관령면 85-61전 선택 직후.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 경계 폴리곤 + 지번 + PNU.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경계가 조각 폭의 절반 이상 차지하게 자른다.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주소창 포함.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03 사용한 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없는 것이 아니라, 서로 다른 기관·단위에 있어</a:t>
            </a:r>
            <a:endParaRPr lang="en-US" sz="2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농지로 이어지지 않습니다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304288"/>
            <a:ext cx="7635240" cy="3749040"/>
          </a:xfrm>
          <a:prstGeom prst="roundRect">
            <a:avLst>
              <a:gd name="adj" fmla="val 976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13232" y="2414016"/>
            <a:ext cx="7342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C4 · 03 어떤 API의 어떤 값을 썼는지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2688336"/>
            <a:ext cx="734263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전체. 제공기관 열과 상태·기준시각 열이 잘리지 않게.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스크롤이 있으면 끝까지 나오게 자른다.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조합: 대관령면 85-61전 · 상추 · 3일.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30768" y="23042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갈래 · 기관도 단위도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기준시각도 다릅니다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30768" y="2999232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7072" y="306324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 경계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77072" y="331012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농림축산식품부 팜맵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30768" y="3749040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7072" y="381304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토양 특성·화학성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77072" y="405993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농촌진흥청 흙토람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30768" y="4498848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7072" y="456285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단기예보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77072" y="480974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기상청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30768" y="5248656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531266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7일 관측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77072" y="555955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농촌진흥청 농업기상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밭보다는 다섯 고리로 판정합니다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확인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688336"/>
            <a:ext cx="1918960" cy="2926080"/>
          </a:xfrm>
          <a:prstGeom prst="roundRect">
            <a:avLst>
              <a:gd name="adj" fmla="val 1906"/>
            </a:avLst>
          </a:prstGeom>
          <a:solidFill>
            <a:srgbClr val="17323C"/>
          </a:solidFill>
          <a:ln w="12700">
            <a:solidFill>
              <a:srgbClr val="2B455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13232" y="2798064"/>
            <a:ext cx="162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 · 01-B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3072384"/>
            <a:ext cx="162635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 경계 폴리곤 조각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 배치.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도형·아이콘으로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대체하지 않는다.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5888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5164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5164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필지번호 토양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851648" y="2688336"/>
            <a:ext cx="1918960" cy="2926080"/>
          </a:xfrm>
          <a:prstGeom prst="roundRect">
            <a:avLst>
              <a:gd name="adj" fmla="val 1906"/>
            </a:avLst>
          </a:prstGeom>
          <a:solidFill>
            <a:srgbClr val="17323C"/>
          </a:solidFill>
          <a:ln w="12700">
            <a:solidFill>
              <a:srgbClr val="2B455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997952" y="2798064"/>
            <a:ext cx="162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C2 · 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97952" y="3072384"/>
            <a:ext cx="162635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토양 적성 카드 조각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 배치.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도형·아이콘으로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대체하지 않는다.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70608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3636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3636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작물별 공식 등급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136368" y="2688336"/>
            <a:ext cx="1918960" cy="2926080"/>
          </a:xfrm>
          <a:prstGeom prst="roundRect">
            <a:avLst>
              <a:gd name="adj" fmla="val 1906"/>
            </a:avLst>
          </a:prstGeom>
          <a:solidFill>
            <a:srgbClr val="17323C"/>
          </a:solidFill>
          <a:ln w="12700">
            <a:solidFill>
              <a:srgbClr val="2B455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282672" y="2798064"/>
            <a:ext cx="162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C6 · 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82672" y="3072384"/>
            <a:ext cx="162635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 3급지 표기 조각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 배치.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도형·아이콘으로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대체하지 않는다.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55328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2108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2108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예보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21088" y="2688336"/>
            <a:ext cx="1918960" cy="2926080"/>
          </a:xfrm>
          <a:prstGeom prst="roundRect">
            <a:avLst>
              <a:gd name="adj" fmla="val 1906"/>
            </a:avLst>
          </a:prstGeom>
          <a:solidFill>
            <a:srgbClr val="17323C"/>
          </a:solidFill>
          <a:ln w="12700">
            <a:solidFill>
              <a:srgbClr val="2B455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567392" y="2798064"/>
            <a:ext cx="162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C3 · 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67392" y="3072384"/>
            <a:ext cx="162635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 줄 눈금 조각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 배치.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도형·아이콘으로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대체하지 않는다.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40047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05807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05807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추적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9705807" y="2688336"/>
            <a:ext cx="1918960" cy="2926080"/>
          </a:xfrm>
          <a:prstGeom prst="roundRect">
            <a:avLst>
              <a:gd name="adj" fmla="val 1906"/>
            </a:avLst>
          </a:prstGeom>
          <a:solidFill>
            <a:srgbClr val="17323C"/>
          </a:solidFill>
          <a:ln w="12700">
            <a:solidFill>
              <a:srgbClr val="2B455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9852111" y="2798064"/>
            <a:ext cx="162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C4 · 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52111" y="3072384"/>
            <a:ext cx="162635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상태·기준시각 열 조각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 배치.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도형·아이콘으로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대체하지 않는다.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 · 배포본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다섯 고리는 지금 배포된 서비스에서 실제로 이어집니다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084832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84832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batboda.vercel.app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31089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대관령면 85-61전 · 상추 · 3일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3529584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장은 슬라이드를 읽는 장이 아니다. 화면을 배포본으로 전환해 01 → 02 → 03 → 04를 직접 넘긴다. 5초 안에 다음 화면이 나오지 않으면 고정 전환 문장을 말하고 아래 백업으로 넘어간다.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55664" y="2084832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캡처 — 이 순서로 넘긴다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55664" y="2432304"/>
            <a:ext cx="932688" cy="2103120"/>
          </a:xfrm>
          <a:prstGeom prst="roundRect">
            <a:avLst>
              <a:gd name="adj" fmla="val 4902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55664" y="32004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55664" y="34747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경계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16368" y="2432304"/>
            <a:ext cx="932688" cy="2103120"/>
          </a:xfrm>
          <a:prstGeom prst="roundRect">
            <a:avLst>
              <a:gd name="adj" fmla="val 4902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516368" y="32004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16368" y="34747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판정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77072" y="2432304"/>
            <a:ext cx="932688" cy="2103120"/>
          </a:xfrm>
          <a:prstGeom prst="roundRect">
            <a:avLst>
              <a:gd name="adj" fmla="val 4902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577072" y="32004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77072" y="34747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눈금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37776" y="2432304"/>
            <a:ext cx="932688" cy="2103120"/>
          </a:xfrm>
          <a:prstGeom prst="roundRect">
            <a:avLst>
              <a:gd name="adj" fmla="val 4902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637776" y="32004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37776" y="34747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출처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698480" y="2432304"/>
            <a:ext cx="932688" cy="2103120"/>
          </a:xfrm>
          <a:prstGeom prst="roundRect">
            <a:avLst>
              <a:gd name="adj" fmla="val 4902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698480" y="32004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0" y="34747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결론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882896"/>
            <a:ext cx="11057839" cy="713232"/>
          </a:xfrm>
          <a:prstGeom prst="roundRect">
            <a:avLst>
              <a:gd name="adj" fmla="val 7692"/>
            </a:avLst>
          </a:prstGeom>
          <a:solidFill>
            <a:srgbClr val="FBE7AB"/>
          </a:solidFill>
          <a:ln w="12700">
            <a:solidFill>
              <a:srgbClr val="E0C5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882896"/>
            <a:ext cx="106920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8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전환 문장 — “지금은 저장된 검증 장면으로 이어가며, 서비스에서는 실시간·검증 스냅샷·시연 자료를 구분해 표시합니다.”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02 토양 적성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농지라도 작물이 바뀌면,</a:t>
            </a:r>
            <a:endParaRPr lang="en-US" sz="2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판정에 쓰는 공식 등급 자체가 바뀝니다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11057839" cy="512064"/>
          </a:xfrm>
          <a:prstGeom prst="roundRect">
            <a:avLst>
              <a:gd name="adj" fmla="val 10714"/>
            </a:avLst>
          </a:prstGeom>
          <a:solidFill>
            <a:srgbClr val="F1F4F5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03120"/>
            <a:ext cx="10692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농지 · 경기 이천시 유방동 870답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47088" y="2834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088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과수 4급지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346704"/>
            <a:ext cx="5373472" cy="2286000"/>
          </a:xfrm>
          <a:prstGeom prst="roundRect">
            <a:avLst>
              <a:gd name="adj" fmla="val 1600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13232" y="3456432"/>
            <a:ext cx="508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C5 · 02 토양 적성 카드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3730752"/>
            <a:ext cx="508086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이천 유방동 870답 · 사과.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+ 위에 농지 주소 한 줄.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과수 4급지 표기 포함.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51296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531456" y="2834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1456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 3급지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1296" y="3346704"/>
            <a:ext cx="5373472" cy="2286000"/>
          </a:xfrm>
          <a:prstGeom prst="roundRect">
            <a:avLst>
              <a:gd name="adj" fmla="val 1600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397600" y="3456432"/>
            <a:ext cx="508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C6 · 02 토양 적성 카드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3730752"/>
            <a:ext cx="508086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세션에서 작물만 바꿔 연속으로.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C5와 같은 배율·같은 잘라내기.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 3급지 표기 포함.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5815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사과·배는 과수 등급, 상추·오이·감자는 밭 등급을 쓴다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04 ·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규칙이 확정하고, AI는 그 근거를 초보자 말로 옮깁니다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검사에 걸리면 같은 근거의 규칙 문장으로 되돌아갑니다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231136"/>
            <a:ext cx="6903720" cy="3054096"/>
          </a:xfrm>
          <a:prstGeom prst="roundRect">
            <a:avLst>
              <a:gd name="adj" fmla="val 1198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13232" y="2340864"/>
            <a:ext cx="6611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C7 · 04 쉬운 말 보고서 상단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615184"/>
            <a:ext cx="661111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한 줄 + 「판정 …은 공식 기준으로 규칙이 확정했습니다」 병기 문장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「이렇게 판단한 근거」 3줄까지. AI 상세 설명은 접힌 상태로.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99248" y="2231136"/>
            <a:ext cx="3931920" cy="3054096"/>
          </a:xfrm>
          <a:prstGeom prst="roundRect">
            <a:avLst>
              <a:gd name="adj" fmla="val 1198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845552" y="234086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C8 · 03 설명 문장을 만드는 과정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45552" y="2615184"/>
            <a:ext cx="363931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블록 전체.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아코디언을 펼친 상태.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5468112"/>
            <a:ext cx="11057839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5541264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13파일 115건 회귀 테스트 통과 · 560 시나리오에서 주 판정 단계 변동 0/0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5852160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회귀와 산식 민감도 근거이며, 현장 정확도 검증이 아닙니다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03 상태·기준시각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API가 죽어도 판단은 이어지고,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상태를 화면에서 구분합니다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249424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DCECDF"/>
          </a:solidFill>
          <a:ln w="12700">
            <a:solidFill>
              <a:srgbClr val="1C6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연결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8096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6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호출해 받은 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3127248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CFFAFE"/>
          </a:solidFill>
          <a:ln w="12700">
            <a:solidFill>
              <a:srgbClr val="0B5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스냅샷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3493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저장해 둔 실호출 응답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FBE7AB"/>
          </a:solidFill>
          <a:ln w="12700">
            <a:solidFill>
              <a:srgbClr val="8A58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4078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8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시연용 자료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096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8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실데이터가 아님을 표시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74336" y="2249424"/>
            <a:ext cx="6656832" cy="2542032"/>
          </a:xfrm>
          <a:prstGeom prst="roundRect">
            <a:avLst>
              <a:gd name="adj" fmla="val 1439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120640" y="2359152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C4-b · 03 「상태 · 기준시각」 열 확대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633472"/>
            <a:ext cx="6364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소스마다 상태가 따로 붙는다는 것이 보이게 확대해 자른다.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조합: 대관령면 85-61전 · 상추 · 3일.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74336" y="4956048"/>
            <a:ext cx="665683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75504" y="508406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2026-08-03 · 공공데이터 인증이 실제로 막혔습니다 (HTTP 401)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75504" y="5394960"/>
            <a:ext cx="6254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실패한 소스만 대체하고 이유를 남기는 경로로 판정까지 이어지는 것을 그때 확인했습니다. 가정이 아니라 겪은 일입니다.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01 내 농지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사용은 매일이 아니라, 판단이 필요한 사건마다입니다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" y="2212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농지를 계약하기 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0976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심을 작물을 바꿀 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37856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파종 전 가까운 기간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462686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농지는 즐겨찾기로 담아 두고, 브라우저에만 저장합니다. 서버로 보내지 않습니다.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75504" y="2212848"/>
            <a:ext cx="6455664" cy="2377440"/>
          </a:xfrm>
          <a:prstGeom prst="roundRect">
            <a:avLst>
              <a:gd name="adj" fmla="val 1538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321808" y="2322576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C9 · 01 내 농지(즐겨찾기) 목록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21808" y="2596896"/>
            <a:ext cx="616305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 2건 이상 담긴 상태. 주소가 읽히게.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75504" y="4754880"/>
            <a:ext cx="645566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76672" y="4901184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FBE7AB"/>
          </a:solidFill>
          <a:ln w="12700">
            <a:solidFill>
              <a:srgbClr val="E0C5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490118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8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제안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76672" y="5303520"/>
            <a:ext cx="60533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귀농귀촌센터·농업기술센터·농협 상담 창구를 첫 실증 파트너로 제안하고, 반복 사용이 확인되면 기관용 연간 라이선스를 검토하겠습니다.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03 관측·판정 방식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하는 것을 화면에 적어 두고, 다음 검증 순서를 정해 두었습니다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157984"/>
            <a:ext cx="66751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토양 산도 조회율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2505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대관령 반경 1km · 258필지 중 18건 = 7.0%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7614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값을 다른 농지에서 채우지 않습니다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200400"/>
            <a:ext cx="66751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3282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예보 기간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35478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단기예보만 · 중기예보 미구현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68096" y="380390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기간을 넘는 위험은 말하지 않습니다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242816"/>
            <a:ext cx="66751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4325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가까운 관측소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45902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6.45km · 강릉 안반덕이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8096" y="48463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적고 점수에 넣지 않습니다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535838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133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정확도는 아직 검증하지 않았습니다. 그래서 참고 판정으로 한정합니다.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461504" y="2157984"/>
            <a:ext cx="4169664" cy="1572768"/>
          </a:xfrm>
          <a:prstGeom prst="roundRect">
            <a:avLst>
              <a:gd name="adj" fmla="val 2326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607808" y="226771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C10 · 03 최근 관측 기록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07808" y="2542032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관측소 이름·거리 +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「점수에 가산하지 않습니다」 문구까지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61504" y="3858768"/>
            <a:ext cx="4169664" cy="1810512"/>
          </a:xfrm>
          <a:prstGeom prst="roundRect">
            <a:avLst>
              <a:gd name="adj" fmla="val 2020"/>
            </a:avLst>
          </a:prstGeom>
          <a:solidFill>
            <a:srgbClr val="F1F4F5"/>
          </a:solidFill>
          <a:ln w="12700">
            <a:solidFill>
              <a:srgbClr val="B9C4C7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607808" y="396849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C11 · 03 현재 판정 방식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07808" y="4242816"/>
            <a:ext cx="3877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방식 라벨 + 요구 상태 목록.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「초보자 설명 = 연결됨」이 보이는 상태여야 한다.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「일부만」이면 이 자리를 비우고 C10만 쓴다.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73736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 경계부터 근거의 출처까지,</a:t>
            </a:r>
            <a:endParaRPr lang="en-US" sz="3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땅 단위 참고 판정입니다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3858768"/>
            <a:ext cx="1847088" cy="42062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587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밭보다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615184" y="38587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batboda.vercel.app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459028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열어 보실 수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87184" y="1481328"/>
            <a:ext cx="2103120" cy="2103120"/>
          </a:xfrm>
          <a:prstGeom prst="roundRect">
            <a:avLst>
              <a:gd name="adj" fmla="val 1739"/>
            </a:avLst>
          </a:prstGeom>
          <a:solidFill>
            <a:srgbClr val="17323C"/>
          </a:solidFill>
          <a:ln w="12700">
            <a:solidFill>
              <a:srgbClr val="2B455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33488" y="159105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C12 · QR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33488" y="1865376"/>
            <a:ext cx="1810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batboda.vercel.app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QR. 여백 포함.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528048" y="1481328"/>
            <a:ext cx="2103120" cy="2103120"/>
          </a:xfrm>
          <a:prstGeom prst="roundRect">
            <a:avLst>
              <a:gd name="adj" fmla="val 1739"/>
            </a:avLst>
          </a:prstGeom>
          <a:solidFill>
            <a:srgbClr val="17323C"/>
          </a:solidFill>
          <a:ln w="12700">
            <a:solidFill>
              <a:srgbClr val="2B455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9674352" y="159105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 · 경계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74352" y="1865376"/>
            <a:ext cx="1810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S1과 같은 조각.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밭보다 — 공공데이터 기반 농지 환경 판정</dc:title>
  <dc:subject>PptxGenJS Presentation</dc:subject>
  <dc:creator>김남궁택</dc:creator>
  <cp:lastModifiedBy>김남궁택</cp:lastModifiedBy>
  <cp:revision>1</cp:revision>
  <dcterms:created xsi:type="dcterms:W3CDTF">2026-08-04T23:22:42Z</dcterms:created>
  <dcterms:modified xsi:type="dcterms:W3CDTF">2026-08-04T23:22:42Z</dcterms:modified>
</cp:coreProperties>
</file>