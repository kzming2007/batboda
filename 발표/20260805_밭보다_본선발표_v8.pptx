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53" d="100"/>
          <a:sy n="53" d="100"/>
        </p:scale>
        <p:origin x="68" y="9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526325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같은 논 농지입니다. 사과를 고르면 과수 4급지, 상추를 고르면 밭 3급지를 씁니다. 작물을 바꾸면 판정에 쓰는 공식 등급 자체가 갈립니다. 저희는 밭보다, 팀 김남궁택입니다. 심사위원께서 다른 작물을 고르셔도 같은 방식으로 동작합니다.
이 장이 무대에서 실물로 보일 수 있는 가장 강한 판정 논리 증거다. 여기서 시선을 잡는다.
팀 소개는 한 문장으로 끝낸다.
금지 — 팀 소개 길게, 귀농 인구·실패율 통계, 필드 코드명, 등급 전수 표, 이 항목을 한계로 언급, 다른 서비스는 밭 등급만 쓴다는 추정.</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[22초]
내 땅에 이 작물을 심어도 될까. 밭보다는 좌표가 아니라 농지 경계를 먼저 확인합니다. 그 필지번호의 토양과 그 좌표의 예보를 작물별 공식 기준에 대조하고, 근거의 출처까지 남깁니다. 이 다섯 고리가 밭보다입니다.
이 장이 비교 기준을 남기는 장이다. 발표 순서 1번이므로 심사위원이 뒤의 다섯 팀을 볼 때 쓸 낱말을 여기서 심는다.
금지 — API 개수·아키텍처 도해, 「필지 단위 서비스는 밭보다뿐」, 기능 목록 나열.</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[22초]
농지, 토양, 예보는 서로 다른 기관이 서로 다른 단위와 시각으로 냅니다. 초보자는 이 네 화면을 각각 찾아 자기 농지 값을 골라내고 작물 기준과 직접 대조해야 합니다.
표를 읽지 않는다. 네 칸을 가리키며 “넷이 서로 다른 기관, 서로 다른 시각입니다”까지만 말한다. 기관 넷을 일일이 읊으면 22초를 넘긴다.
금지 — 「대부분의 서비스는 시·군 평균만 제공한다」, 기존 서비스 비교표, 다른 팀·기관 이름.</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[70초 · 라이브]
0~8초  지번과 경계를 사람이 확인합니다.
8~15초  토양은 이 필지번호로, 예보는 이 좌표로 가져옵니다.
15~28초  판정과 함께 어떤 근거가 좋음·주의인지, 네 갈래 공공데이터가 응답했는지 같이 공개합니다.
28~42초  평균기온이 상추 공식 기준 15~20℃를 얼마나 벗어났는지 눈금으로, 기관과 기준시각까지 확인합니다.
42~62초  04에서는 판정은 규칙이 정했다고 밝히고, AI가 근거와 먼저 할 일을 쉬운 말로 옮깁니다.
금지 — 분석 소요 시간 수치, 후보 건수, 「어느 농지나 5초 안에」, 위험 라벨을 대사에 고정, 등급과 저해요인을 한 원인처럼 합쳐 말하기, 실패 원인 설명(전환 문장으로 바로 넘어간다).
수치는 화면에 보이는 값을 읽는다. 외운 값을 말하지 않는다.
■ 5초 규칙 — 한 동작을 누르고 5초 안에 다음 화면이 안 나오면 기다리지 않는다.
■ 고정 전환 문장(그대로 말한다) — “지금은 저장된 검증 장면으로 이어가며, 서비스에서는 실시간과 검증 스냅샷, 시연 자료를 구분해 표시합니다.”
■ 실패 원인을 설명하지 않는다. 위 문장을 말하고 이 장의 다섯 조각을 순서대로 넘긴다.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결론 문장은 AI가 썼지만, 판정을 정한 것은 규칙입니다. AI에는 확정된 근거만 넘기고, 새 수치나 판정을 만들지 못하게 막습니다. 나온 문장은 판정과 위험 등급을 그대로 인용했는지, 근거에 없는 숫자나 금지 표현이 없는지 검사합니다. 통과하지 못하면 같은 근거의 규칙 문장으로 되돌립니다.
회귀 테스트 수치는 당일 아침 재실행 결과로 말한다.
금지 — 「AI가 모든 숫자 오류를 차단한다」, 프롬프트 전문 낭독, 모델 이름·버전 고정(화면 배지가 실제 모델을 표시한다), 560 시나리오를 정확도로 제시. 위험 라벨 변동(완화 60% · 보수 10%)은 질의응답에서만.</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운영에서 중요한 것은 잘 될 때가 아니라 안 될 때입니다. 실패한 소스만 대체하고 이유를 남깁니다. 8월 3일에 인증이 실제로 막혔을 때 이 경로로 판정까지 이어지는 것을 확인했습니다. 가정이 아니라 겪은 일입니다.
금지 — 운영비 0원·운영 인력 없음, 지역 확대 건수, 발표장에서 장애를 라이브로 재현, 401 화면을 조작해 만든 캡처.</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농지 계약 전, 작물을 바꿀 때, 파종 전에 다시 옵니다. 재방문율은 아직 측정하지 않았습니다. 유료 고객과 확정 가격도 없습니다. 귀농귀촌센터·농업기술센터·농협 상담 창구를 첫 실증 파트너로 제안하고, 반복 사용이 확인되면 기관용 연간 라이선스를 검토하겠습니다.
「제안」과 「검토」를 반드시 말로도 붙인다. 금지 — 「센터가 매일 쓴다」, 기관 도입 확정, 시장 규모 수치, 라이선스 금액.</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세 가지만 말씀드립니다. 대관령 표본의 토양 산도 조회는 258필지 중 18건, 7.0%였고 없는 값을 다른 농지에서 채우지 않습니다. 예보는 3일이고, 관측소는 6.45km 떨어져 점수에 넣지 않습니다. 현장 정확도는 아직 없습니다. 그래서 참고 판정으로 한정합니다.
7.0%는 반드시 분모와 함께 말한다. 금지 — 한계 네 개 이상 나열(나머지는 질의응답), 과수·논 등급 미반영, 중기예보 구현 주장.</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[12초]
내 농지를 경계로 확인하고, 같은 농지의 근거를 끝까지 되짚는 밭보다입니다. 지금 열어 보실 수 있습니다.
금지 — 새 기능·수치·로드맵, 감사 인사 전용 장, 팀 사진, 연락처.
여기서 멈추고 질의응답으로 넘어간다. 답변은 대본 v3 5절 28문.</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62E"/>
        </a:solidFill>
        <a:effectLst/>
      </p:bgPr>
    </p:bg>
    <p:spTree>
      <p:nvGrpSpPr>
        <p:cNvPr id="1" name=""/>
        <p:cNvGrpSpPr/>
        <p:nvPr/>
      </p:nvGrpSpPr>
      <p:grpSpPr>
        <a:xfrm>
          <a:off x="0" y="0"/>
          <a:ext cx="0" cy="0"/>
          <a:chOff x="0" y="0"/>
          <a:chExt cx="0" cy="0"/>
        </a:xfrm>
      </p:grpSpPr>
      <p:sp>
        <p:nvSpPr>
          <p:cNvPr id="2" name="Text 0"/>
          <p:cNvSpPr/>
          <p:nvPr/>
        </p:nvSpPr>
        <p:spPr>
          <a:xfrm>
            <a:off x="566928" y="402336"/>
            <a:ext cx="6949440" cy="274320"/>
          </a:xfrm>
          <a:prstGeom prst="rect">
            <a:avLst/>
          </a:prstGeom>
          <a:noFill/>
          <a:ln/>
        </p:spPr>
        <p:txBody>
          <a:bodyPr wrap="square" lIns="0" tIns="0" rIns="0" bIns="0" rtlCol="0" anchor="ctr"/>
          <a:lstStyle/>
          <a:p>
            <a:pPr marL="0" indent="0">
              <a:buNone/>
            </a:pPr>
            <a:r>
              <a:rPr lang="en-US" sz="1250" b="1" kern="0" spc="100" dirty="0">
                <a:solidFill>
                  <a:srgbClr val="A7C0C8"/>
                </a:solidFill>
                <a:latin typeface="맑은 고딕" pitchFamily="34" charset="0"/>
                <a:ea typeface="맑은 고딕" pitchFamily="34" charset="-122"/>
                <a:cs typeface="맑은 고딕" pitchFamily="34" charset="-120"/>
              </a:rPr>
              <a:t>2026 지역산업 문제기반 AI 해커톤 본선 · 기업 문제 1</a:t>
            </a:r>
            <a:endParaRPr lang="en-US" sz="1250" dirty="0"/>
          </a:p>
        </p:txBody>
      </p:sp>
      <p:sp>
        <p:nvSpPr>
          <p:cNvPr id="3" name="Text 1"/>
          <p:cNvSpPr/>
          <p:nvPr/>
        </p:nvSpPr>
        <p:spPr>
          <a:xfrm>
            <a:off x="7967167" y="402336"/>
            <a:ext cx="3657600" cy="274320"/>
          </a:xfrm>
          <a:prstGeom prst="rect">
            <a:avLst/>
          </a:prstGeom>
          <a:noFill/>
          <a:ln/>
        </p:spPr>
        <p:txBody>
          <a:bodyPr wrap="square" lIns="0" tIns="0" rIns="0" bIns="0" rtlCol="0" anchor="ctr"/>
          <a:lstStyle/>
          <a:p>
            <a:pPr marL="0" indent="0" algn="r">
              <a:buNone/>
            </a:pPr>
            <a:r>
              <a:rPr lang="en-US" sz="1250" b="1" dirty="0">
                <a:solidFill>
                  <a:srgbClr val="A7C0C8"/>
                </a:solidFill>
                <a:latin typeface="맑은 고딕" pitchFamily="34" charset="0"/>
                <a:ea typeface="맑은 고딕" pitchFamily="34" charset="-122"/>
                <a:cs typeface="맑은 고딕" pitchFamily="34" charset="-120"/>
              </a:rPr>
              <a:t>밭보다 · 김남궁택</a:t>
            </a:r>
            <a:endParaRPr lang="en-US" sz="1250" dirty="0"/>
          </a:p>
        </p:txBody>
      </p:sp>
      <p:sp>
        <p:nvSpPr>
          <p:cNvPr id="4" name="Text 2"/>
          <p:cNvSpPr/>
          <p:nvPr/>
        </p:nvSpPr>
        <p:spPr>
          <a:xfrm>
            <a:off x="566928" y="822960"/>
            <a:ext cx="11057839" cy="1517904"/>
          </a:xfrm>
          <a:prstGeom prst="rect">
            <a:avLst/>
          </a:prstGeom>
          <a:noFill/>
          <a:ln/>
        </p:spPr>
        <p:txBody>
          <a:bodyPr wrap="square" lIns="0" tIns="0" rIns="0" bIns="0" rtlCol="0" anchor="t"/>
          <a:lstStyle/>
          <a:p>
            <a:pPr marL="0" indent="0">
              <a:lnSpc>
                <a:spcPct val="118000"/>
              </a:lnSpc>
              <a:buNone/>
            </a:pPr>
            <a:r>
              <a:rPr lang="en-US" sz="3100" b="1" dirty="0">
                <a:solidFill>
                  <a:srgbClr val="FFFFFF"/>
                </a:solidFill>
                <a:latin typeface="맑은 고딕" pitchFamily="34" charset="0"/>
                <a:ea typeface="맑은 고딕" pitchFamily="34" charset="-122"/>
                <a:cs typeface="맑은 고딕" pitchFamily="34" charset="-120"/>
              </a:rPr>
              <a:t>같은 농지입니다. 작물을 바꾸면</a:t>
            </a:r>
            <a:endParaRPr lang="en-US" sz="3100" dirty="0"/>
          </a:p>
          <a:p>
            <a:pPr marL="0" indent="0">
              <a:lnSpc>
                <a:spcPct val="118000"/>
              </a:lnSpc>
              <a:buNone/>
            </a:pPr>
            <a:r>
              <a:rPr lang="en-US" sz="3100" b="1" dirty="0">
                <a:solidFill>
                  <a:srgbClr val="FFFFFF"/>
                </a:solidFill>
                <a:latin typeface="맑은 고딕" pitchFamily="34" charset="0"/>
                <a:ea typeface="맑은 고딕" pitchFamily="34" charset="-122"/>
                <a:cs typeface="맑은 고딕" pitchFamily="34" charset="-120"/>
              </a:rPr>
              <a:t>판정에 쓰는 공식 등급 자체가 갈립니다</a:t>
            </a:r>
            <a:endParaRPr lang="en-US" sz="3100" dirty="0"/>
          </a:p>
        </p:txBody>
      </p:sp>
      <p:sp>
        <p:nvSpPr>
          <p:cNvPr id="5" name="Shape 3"/>
          <p:cNvSpPr/>
          <p:nvPr/>
        </p:nvSpPr>
        <p:spPr>
          <a:xfrm>
            <a:off x="566928" y="2121408"/>
            <a:ext cx="5852160" cy="457200"/>
          </a:xfrm>
          <a:prstGeom prst="roundRect">
            <a:avLst>
              <a:gd name="adj" fmla="val 12000"/>
            </a:avLst>
          </a:prstGeom>
          <a:solidFill>
            <a:srgbClr val="17323C"/>
          </a:solidFill>
          <a:ln w="12700">
            <a:solidFill>
              <a:srgbClr val="2B4550"/>
            </a:solidFill>
            <a:prstDash val="solid"/>
          </a:ln>
        </p:spPr>
        <p:txBody>
          <a:bodyPr/>
          <a:lstStyle/>
          <a:p>
            <a:endParaRPr lang="ko-KR" altLang="en-US"/>
          </a:p>
        </p:txBody>
      </p:sp>
      <p:sp>
        <p:nvSpPr>
          <p:cNvPr id="6" name="Text 4"/>
          <p:cNvSpPr/>
          <p:nvPr/>
        </p:nvSpPr>
        <p:spPr>
          <a:xfrm>
            <a:off x="749808" y="2121408"/>
            <a:ext cx="5486400" cy="457200"/>
          </a:xfrm>
          <a:prstGeom prst="rect">
            <a:avLst/>
          </a:prstGeom>
          <a:noFill/>
          <a:ln/>
        </p:spPr>
        <p:txBody>
          <a:bodyPr wrap="square" lIns="0" tIns="0" rIns="0" bIns="0" rtlCol="0" anchor="ctr"/>
          <a:lstStyle/>
          <a:p>
            <a:pPr marL="0" indent="0">
              <a:buNone/>
            </a:pPr>
            <a:r>
              <a:rPr lang="en-US" sz="1550" b="1" dirty="0">
                <a:solidFill>
                  <a:srgbClr val="CFFAFE"/>
                </a:solidFill>
                <a:latin typeface="맑은 고딕" pitchFamily="34" charset="0"/>
                <a:ea typeface="맑은 고딕" pitchFamily="34" charset="-122"/>
                <a:cs typeface="맑은 고딕" pitchFamily="34" charset="-120"/>
              </a:rPr>
              <a:t>같은 농지 · 경기 이천시 유방동 870답</a:t>
            </a:r>
            <a:endParaRPr lang="en-US" sz="1550" dirty="0"/>
          </a:p>
        </p:txBody>
      </p:sp>
      <p:sp>
        <p:nvSpPr>
          <p:cNvPr id="7" name="Text 5"/>
          <p:cNvSpPr/>
          <p:nvPr/>
        </p:nvSpPr>
        <p:spPr>
          <a:xfrm>
            <a:off x="1258672" y="2724912"/>
            <a:ext cx="4663440" cy="310896"/>
          </a:xfrm>
          <a:prstGeom prst="rect">
            <a:avLst/>
          </a:prstGeom>
          <a:noFill/>
          <a:ln/>
        </p:spPr>
        <p:txBody>
          <a:bodyPr wrap="square" lIns="0" tIns="0" rIns="0" bIns="0" rtlCol="0" anchor="ctr"/>
          <a:lstStyle/>
          <a:p>
            <a:pPr marL="0" indent="0" algn="ctr">
              <a:buNone/>
            </a:pPr>
            <a:r>
              <a:rPr lang="en-US" sz="1700" b="1" dirty="0">
                <a:solidFill>
                  <a:srgbClr val="CFFAFE"/>
                </a:solidFill>
                <a:latin typeface="맑은 고딕" pitchFamily="34" charset="0"/>
                <a:ea typeface="맑은 고딕" pitchFamily="34" charset="-122"/>
                <a:cs typeface="맑은 고딕" pitchFamily="34" charset="-120"/>
              </a:rPr>
              <a:t>사과 · 과수 4급지</a:t>
            </a:r>
            <a:endParaRPr lang="en-US" sz="1700" dirty="0"/>
          </a:p>
        </p:txBody>
      </p:sp>
      <p:pic>
        <p:nvPicPr>
          <p:cNvPr id="8" name="Image 0" descr="D:/Projects/batboda/발표/캡처/20260805_C05_유방동870답_사과_과수등급.png"/>
          <p:cNvPicPr>
            <a:picLocks noChangeAspect="1"/>
          </p:cNvPicPr>
          <p:nvPr/>
        </p:nvPicPr>
        <p:blipFill>
          <a:blip r:embed="rId3"/>
          <a:stretch>
            <a:fillRect/>
          </a:stretch>
        </p:blipFill>
        <p:spPr>
          <a:xfrm>
            <a:off x="1262733" y="3072384"/>
            <a:ext cx="4655318" cy="3401568"/>
          </a:xfrm>
          <a:prstGeom prst="rect">
            <a:avLst/>
          </a:prstGeom>
        </p:spPr>
      </p:pic>
      <p:sp>
        <p:nvSpPr>
          <p:cNvPr id="9" name="Text 6"/>
          <p:cNvSpPr/>
          <p:nvPr/>
        </p:nvSpPr>
        <p:spPr>
          <a:xfrm>
            <a:off x="6269584" y="2724912"/>
            <a:ext cx="4663440" cy="310896"/>
          </a:xfrm>
          <a:prstGeom prst="rect">
            <a:avLst/>
          </a:prstGeom>
          <a:noFill/>
          <a:ln/>
        </p:spPr>
        <p:txBody>
          <a:bodyPr wrap="square" lIns="0" tIns="0" rIns="0" bIns="0" rtlCol="0" anchor="ctr"/>
          <a:lstStyle/>
          <a:p>
            <a:pPr marL="0" indent="0" algn="ctr">
              <a:buNone/>
            </a:pPr>
            <a:r>
              <a:rPr lang="en-US" sz="1700" b="1" dirty="0">
                <a:solidFill>
                  <a:srgbClr val="CFFAFE"/>
                </a:solidFill>
                <a:latin typeface="맑은 고딕" pitchFamily="34" charset="0"/>
                <a:ea typeface="맑은 고딕" pitchFamily="34" charset="-122"/>
                <a:cs typeface="맑은 고딕" pitchFamily="34" charset="-120"/>
              </a:rPr>
              <a:t>상추 · 밭 3급지</a:t>
            </a:r>
            <a:endParaRPr lang="en-US" sz="1700" dirty="0"/>
          </a:p>
        </p:txBody>
      </p:sp>
      <p:pic>
        <p:nvPicPr>
          <p:cNvPr id="10" name="Image 1" descr="D:/Projects/batboda/발표/캡처/20260805_C06_유방동870답_상추_밭등급.png"/>
          <p:cNvPicPr>
            <a:picLocks noChangeAspect="1"/>
          </p:cNvPicPr>
          <p:nvPr/>
        </p:nvPicPr>
        <p:blipFill>
          <a:blip r:embed="rId4"/>
          <a:stretch>
            <a:fillRect/>
          </a:stretch>
        </p:blipFill>
        <p:spPr>
          <a:xfrm>
            <a:off x="6273645" y="3072384"/>
            <a:ext cx="4655318" cy="3401568"/>
          </a:xfrm>
          <a:prstGeom prst="rect">
            <a:avLst/>
          </a:prstGeom>
        </p:spPr>
      </p:pic>
      <p:sp>
        <p:nvSpPr>
          <p:cNvPr id="11" name="Text 7"/>
          <p:cNvSpPr/>
          <p:nvPr/>
        </p:nvSpPr>
        <p:spPr>
          <a:xfrm>
            <a:off x="10984687" y="6291072"/>
            <a:ext cx="640080" cy="274320"/>
          </a:xfrm>
          <a:prstGeom prst="rect">
            <a:avLst/>
          </a:prstGeom>
          <a:noFill/>
          <a:ln/>
        </p:spPr>
        <p:txBody>
          <a:bodyPr wrap="square" lIns="0" tIns="0" rIns="0" bIns="0" rtlCol="0" anchor="ctr"/>
          <a:lstStyle/>
          <a:p>
            <a:pPr marL="0" indent="0" algn="r">
              <a:buNone/>
            </a:pPr>
            <a:r>
              <a:rPr lang="en-US" sz="1100" b="1" dirty="0">
                <a:solidFill>
                  <a:srgbClr val="2B4550"/>
                </a:solidFill>
                <a:latin typeface="맑은 고딕" pitchFamily="34" charset="0"/>
                <a:ea typeface="맑은 고딕" pitchFamily="34" charset="-122"/>
                <a:cs typeface="맑은 고딕" pitchFamily="34" charset="-120"/>
              </a:rPr>
              <a:t>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A"/>
        </a:solidFill>
        <a:effectLst/>
      </p:bgPr>
    </p:bg>
    <p:spTree>
      <p:nvGrpSpPr>
        <p:cNvPr id="1" name=""/>
        <p:cNvGrpSpPr/>
        <p:nvPr/>
      </p:nvGrpSpPr>
      <p:grpSpPr>
        <a:xfrm>
          <a:off x="0" y="0"/>
          <a:ext cx="0" cy="0"/>
          <a:chOff x="0" y="0"/>
          <a:chExt cx="0" cy="0"/>
        </a:xfrm>
      </p:grpSpPr>
      <p:sp>
        <p:nvSpPr>
          <p:cNvPr id="2" name="Text 0"/>
          <p:cNvSpPr/>
          <p:nvPr/>
        </p:nvSpPr>
        <p:spPr>
          <a:xfrm>
            <a:off x="8332927" y="384048"/>
            <a:ext cx="3291840" cy="256032"/>
          </a:xfrm>
          <a:prstGeom prst="rect">
            <a:avLst/>
          </a:prstGeom>
          <a:noFill/>
          <a:ln/>
        </p:spPr>
        <p:txBody>
          <a:bodyPr wrap="square" lIns="0" tIns="0" rIns="0" bIns="0" rtlCol="0" anchor="ctr"/>
          <a:lstStyle/>
          <a:p>
            <a:pPr marL="0" indent="0" algn="r">
              <a:buNone/>
            </a:pPr>
            <a:r>
              <a:rPr lang="en-US" sz="1100" b="1" dirty="0">
                <a:solidFill>
                  <a:srgbClr val="0E7490"/>
                </a:solidFill>
                <a:latin typeface="맑은 고딕" pitchFamily="34" charset="0"/>
                <a:ea typeface="맑은 고딕" pitchFamily="34" charset="-122"/>
                <a:cs typeface="맑은 고딕" pitchFamily="34" charset="-120"/>
              </a:rPr>
              <a:t>화면 근거 · 01-B 농지 경계</a:t>
            </a:r>
            <a:endParaRPr lang="en-US" sz="1100" dirty="0"/>
          </a:p>
        </p:txBody>
      </p:sp>
      <p:sp>
        <p:nvSpPr>
          <p:cNvPr id="3" name="Text 1"/>
          <p:cNvSpPr/>
          <p:nvPr/>
        </p:nvSpPr>
        <p:spPr>
          <a:xfrm>
            <a:off x="566928" y="786384"/>
            <a:ext cx="11057839" cy="1234440"/>
          </a:xfrm>
          <a:prstGeom prst="rect">
            <a:avLst/>
          </a:prstGeom>
          <a:noFill/>
          <a:ln/>
        </p:spPr>
        <p:txBody>
          <a:bodyPr wrap="square" lIns="0" tIns="0" rIns="0" bIns="0" rtlCol="0" anchor="t"/>
          <a:lstStyle/>
          <a:p>
            <a:pPr marL="0" indent="0">
              <a:lnSpc>
                <a:spcPct val="118000"/>
              </a:lnSpc>
              <a:buNone/>
            </a:pPr>
            <a:r>
              <a:rPr lang="en-US" sz="2800" b="1" dirty="0">
                <a:solidFill>
                  <a:srgbClr val="14181A"/>
                </a:solidFill>
                <a:latin typeface="맑은 고딕" pitchFamily="34" charset="0"/>
                <a:ea typeface="맑은 고딕" pitchFamily="34" charset="-122"/>
                <a:cs typeface="맑은 고딕" pitchFamily="34" charset="-120"/>
              </a:rPr>
              <a:t>밭보다는 이 농지의 근거를</a:t>
            </a:r>
            <a:endParaRPr lang="en-US" sz="2800" dirty="0"/>
          </a:p>
          <a:p>
            <a:pPr marL="0" indent="0">
              <a:lnSpc>
                <a:spcPct val="118000"/>
              </a:lnSpc>
              <a:buNone/>
            </a:pPr>
            <a:r>
              <a:rPr lang="en-US" sz="2800" b="1" dirty="0">
                <a:solidFill>
                  <a:srgbClr val="14181A"/>
                </a:solidFill>
                <a:latin typeface="맑은 고딕" pitchFamily="34" charset="0"/>
                <a:ea typeface="맑은 고딕" pitchFamily="34" charset="-122"/>
                <a:cs typeface="맑은 고딕" pitchFamily="34" charset="-120"/>
              </a:rPr>
              <a:t>처음부터 끝까지 되짚습니다</a:t>
            </a:r>
            <a:endParaRPr lang="en-US" sz="2800" dirty="0"/>
          </a:p>
        </p:txBody>
      </p:sp>
      <p:sp>
        <p:nvSpPr>
          <p:cNvPr id="4" name="Shape 2"/>
          <p:cNvSpPr/>
          <p:nvPr/>
        </p:nvSpPr>
        <p:spPr>
          <a:xfrm>
            <a:off x="566928" y="2048256"/>
            <a:ext cx="11057839" cy="512064"/>
          </a:xfrm>
          <a:prstGeom prst="roundRect">
            <a:avLst>
              <a:gd name="adj" fmla="val 10714"/>
            </a:avLst>
          </a:prstGeom>
          <a:solidFill>
            <a:srgbClr val="F1F4F5"/>
          </a:solidFill>
          <a:ln w="12700">
            <a:solidFill>
              <a:srgbClr val="DDE4E6"/>
            </a:solidFill>
            <a:prstDash val="solid"/>
          </a:ln>
        </p:spPr>
        <p:txBody>
          <a:bodyPr/>
          <a:lstStyle/>
          <a:p>
            <a:endParaRPr lang="ko-KR" altLang="en-US"/>
          </a:p>
        </p:txBody>
      </p:sp>
      <p:sp>
        <p:nvSpPr>
          <p:cNvPr id="5" name="Text 3"/>
          <p:cNvSpPr/>
          <p:nvPr/>
        </p:nvSpPr>
        <p:spPr>
          <a:xfrm>
            <a:off x="768096" y="2048256"/>
            <a:ext cx="10655503" cy="512064"/>
          </a:xfrm>
          <a:prstGeom prst="rect">
            <a:avLst/>
          </a:prstGeom>
          <a:noFill/>
          <a:ln/>
        </p:spPr>
        <p:txBody>
          <a:bodyPr wrap="square" lIns="0" tIns="0" rIns="0" bIns="0" rtlCol="0" anchor="ctr"/>
          <a:lstStyle/>
          <a:p>
            <a:pPr marL="0" indent="0">
              <a:buNone/>
            </a:pPr>
            <a:r>
              <a:rPr lang="en-US" sz="1600" b="1" dirty="0">
                <a:solidFill>
                  <a:srgbClr val="0B5A72"/>
                </a:solidFill>
                <a:latin typeface="맑은 고딕" pitchFamily="34" charset="0"/>
                <a:ea typeface="맑은 고딕" pitchFamily="34" charset="-122"/>
                <a:cs typeface="맑은 고딕" pitchFamily="34" charset="-120"/>
              </a:rPr>
              <a:t>경계 확인 → 같은 필지번호 토양 → 작물별 공식 등급 → 좌표 예보 → 근거 추적</a:t>
            </a:r>
            <a:endParaRPr lang="en-US" sz="1600" dirty="0"/>
          </a:p>
        </p:txBody>
      </p:sp>
      <p:pic>
        <p:nvPicPr>
          <p:cNvPr id="6" name="Image 0" descr="D:/Projects/batboda/발표/캡처/20260805_C01_대관령85-61전_경계.png"/>
          <p:cNvPicPr>
            <a:picLocks noChangeAspect="1"/>
          </p:cNvPicPr>
          <p:nvPr/>
        </p:nvPicPr>
        <p:blipFill>
          <a:blip r:embed="rId3"/>
          <a:stretch>
            <a:fillRect/>
          </a:stretch>
        </p:blipFill>
        <p:spPr>
          <a:xfrm>
            <a:off x="2959233" y="2743200"/>
            <a:ext cx="6273228" cy="3529584"/>
          </a:xfrm>
          <a:prstGeom prst="rect">
            <a:avLst/>
          </a:prstGeom>
        </p:spPr>
      </p:pic>
      <p:sp>
        <p:nvSpPr>
          <p:cNvPr id="7" name="Text 4"/>
          <p:cNvSpPr/>
          <p:nvPr/>
        </p:nvSpPr>
        <p:spPr>
          <a:xfrm>
            <a:off x="10984687" y="6291072"/>
            <a:ext cx="640080" cy="274320"/>
          </a:xfrm>
          <a:prstGeom prst="rect">
            <a:avLst/>
          </a:prstGeom>
          <a:noFill/>
          <a:ln/>
        </p:spPr>
        <p:txBody>
          <a:bodyPr wrap="square" lIns="0" tIns="0" rIns="0" bIns="0" rtlCol="0" anchor="ctr"/>
          <a:lstStyle/>
          <a:p>
            <a:pPr marL="0" indent="0" algn="r">
              <a:buNone/>
            </a:pPr>
            <a:r>
              <a:rPr lang="en-US" sz="1100" b="1" dirty="0">
                <a:solidFill>
                  <a:srgbClr val="B9C4C7"/>
                </a:solidFill>
                <a:latin typeface="맑은 고딕" pitchFamily="34" charset="0"/>
                <a:ea typeface="맑은 고딕" pitchFamily="34" charset="-122"/>
                <a:cs typeface="맑은 고딕"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A"/>
        </a:solidFill>
        <a:effectLst/>
      </p:bgPr>
    </p:bg>
    <p:spTree>
      <p:nvGrpSpPr>
        <p:cNvPr id="1" name=""/>
        <p:cNvGrpSpPr/>
        <p:nvPr/>
      </p:nvGrpSpPr>
      <p:grpSpPr>
        <a:xfrm>
          <a:off x="0" y="0"/>
          <a:ext cx="0" cy="0"/>
          <a:chOff x="0" y="0"/>
          <a:chExt cx="0" cy="0"/>
        </a:xfrm>
      </p:grpSpPr>
      <p:pic>
        <p:nvPicPr>
          <p:cNvPr id="2" name="Image 0" descr="D:/Projects/batboda/발표/캡처/20260805_C01_대관령85-61전_경계.png"/>
          <p:cNvPicPr>
            <a:picLocks noChangeAspect="1"/>
          </p:cNvPicPr>
          <p:nvPr/>
        </p:nvPicPr>
        <p:blipFill>
          <a:blip r:embed="rId3"/>
          <a:stretch>
            <a:fillRect/>
          </a:stretch>
        </p:blipFill>
        <p:spPr>
          <a:xfrm>
            <a:off x="1" y="0"/>
            <a:ext cx="12192000" cy="6858171"/>
          </a:xfrm>
          <a:prstGeom prst="rect">
            <a:avLst/>
          </a:prstGeom>
        </p:spPr>
      </p:pic>
      <p:sp>
        <p:nvSpPr>
          <p:cNvPr id="3" name="Shape 0"/>
          <p:cNvSpPr/>
          <p:nvPr/>
        </p:nvSpPr>
        <p:spPr>
          <a:xfrm>
            <a:off x="0" y="0"/>
            <a:ext cx="12215063" cy="6858000"/>
          </a:xfrm>
          <a:prstGeom prst="rect">
            <a:avLst/>
          </a:prstGeom>
          <a:gradFill>
            <a:gsLst>
              <a:gs pos="24000">
                <a:schemeClr val="accent1">
                  <a:lumMod val="5000"/>
                  <a:lumOff val="95000"/>
                  <a:alpha val="13000"/>
                </a:schemeClr>
              </a:gs>
              <a:gs pos="0">
                <a:schemeClr val="accent1">
                  <a:lumMod val="0"/>
                  <a:lumOff val="100000"/>
                </a:schemeClr>
              </a:gs>
              <a:gs pos="0">
                <a:schemeClr val="accent1">
                  <a:lumMod val="0"/>
                  <a:lumOff val="100000"/>
                </a:schemeClr>
              </a:gs>
            </a:gsLst>
            <a:lin ang="5400000" scaled="1"/>
          </a:gradFill>
          <a:ln w="12700">
            <a:noFill/>
            <a:prstDash val="solid"/>
          </a:ln>
        </p:spPr>
        <p:txBody>
          <a:bodyPr/>
          <a:lstStyle/>
          <a:p>
            <a:endParaRPr lang="ko-KR" altLang="en-US"/>
          </a:p>
        </p:txBody>
      </p:sp>
      <p:grpSp>
        <p:nvGrpSpPr>
          <p:cNvPr id="25" name="그룹 24">
            <a:extLst>
              <a:ext uri="{FF2B5EF4-FFF2-40B4-BE49-F238E27FC236}">
                <a16:creationId xmlns:a16="http://schemas.microsoft.com/office/drawing/2014/main" id="{58D60B52-94CF-FCFD-7466-FC2E5D78FFA1}"/>
              </a:ext>
            </a:extLst>
          </p:cNvPr>
          <p:cNvGrpSpPr/>
          <p:nvPr/>
        </p:nvGrpSpPr>
        <p:grpSpPr>
          <a:xfrm>
            <a:off x="6514235" y="3138737"/>
            <a:ext cx="5390192" cy="3116551"/>
            <a:chOff x="6820103" y="3364992"/>
            <a:chExt cx="5390192" cy="3116551"/>
          </a:xfrm>
        </p:grpSpPr>
        <p:sp>
          <p:nvSpPr>
            <p:cNvPr id="4" name="Shape 1"/>
            <p:cNvSpPr/>
            <p:nvPr/>
          </p:nvSpPr>
          <p:spPr>
            <a:xfrm>
              <a:off x="6820103" y="3364992"/>
              <a:ext cx="2518976" cy="1397479"/>
            </a:xfrm>
            <a:prstGeom prst="roundRect">
              <a:avLst>
                <a:gd name="adj" fmla="val 3704"/>
              </a:avLst>
            </a:prstGeom>
            <a:solidFill>
              <a:srgbClr val="FFFFFF"/>
            </a:solidFill>
            <a:ln w="12700">
              <a:solidFill>
                <a:srgbClr val="B9C4C7"/>
              </a:solidFill>
              <a:prstDash val="solid"/>
            </a:ln>
          </p:spPr>
          <p:txBody>
            <a:bodyPr/>
            <a:lstStyle/>
            <a:p>
              <a:endParaRPr lang="ko-KR" altLang="en-US"/>
            </a:p>
          </p:txBody>
        </p:sp>
        <p:sp>
          <p:nvSpPr>
            <p:cNvPr id="5" name="Text 2"/>
            <p:cNvSpPr/>
            <p:nvPr/>
          </p:nvSpPr>
          <p:spPr>
            <a:xfrm>
              <a:off x="6966407" y="3602736"/>
              <a:ext cx="2242924" cy="396815"/>
            </a:xfrm>
            <a:prstGeom prst="rect">
              <a:avLst/>
            </a:prstGeom>
            <a:noFill/>
            <a:ln/>
          </p:spPr>
          <p:txBody>
            <a:bodyPr wrap="square" lIns="0" tIns="0" rIns="0" bIns="0" rtlCol="0" anchor="t"/>
            <a:lstStyle/>
            <a:p>
              <a:pPr marL="0" indent="0" algn="ctr">
                <a:buNone/>
              </a:pPr>
              <a:r>
                <a:rPr lang="en-US" sz="1800" b="1" dirty="0">
                  <a:solidFill>
                    <a:srgbClr val="14181A"/>
                  </a:solidFill>
                  <a:latin typeface="맑은 고딕" pitchFamily="34" charset="0"/>
                  <a:ea typeface="맑은 고딕" pitchFamily="34" charset="-122"/>
                  <a:cs typeface="맑은 고딕" pitchFamily="34" charset="-120"/>
                </a:rPr>
                <a:t>농지 경계</a:t>
              </a:r>
              <a:endParaRPr lang="en-US" sz="1800" dirty="0"/>
            </a:p>
          </p:txBody>
        </p:sp>
        <p:sp>
          <p:nvSpPr>
            <p:cNvPr id="6" name="Text 3"/>
            <p:cNvSpPr/>
            <p:nvPr/>
          </p:nvSpPr>
          <p:spPr>
            <a:xfrm>
              <a:off x="6966407" y="4078224"/>
              <a:ext cx="2242924" cy="241540"/>
            </a:xfrm>
            <a:prstGeom prst="rect">
              <a:avLst/>
            </a:prstGeom>
            <a:noFill/>
            <a:ln/>
          </p:spPr>
          <p:txBody>
            <a:bodyPr wrap="square" lIns="0" tIns="0" rIns="0" bIns="0" rtlCol="0" anchor="ctr"/>
            <a:lstStyle/>
            <a:p>
              <a:pPr marL="0" indent="0" algn="ctr">
                <a:buNone/>
              </a:pPr>
              <a:r>
                <a:rPr lang="en-US" sz="1250" dirty="0">
                  <a:solidFill>
                    <a:srgbClr val="55636A"/>
                  </a:solidFill>
                  <a:latin typeface="맑은 고딕" pitchFamily="34" charset="0"/>
                  <a:ea typeface="맑은 고딕" pitchFamily="34" charset="-122"/>
                  <a:cs typeface="맑은 고딕" pitchFamily="34" charset="-120"/>
                </a:rPr>
                <a:t>농림축산식품부 팜맵</a:t>
              </a:r>
              <a:endParaRPr lang="en-US" sz="1250" dirty="0"/>
            </a:p>
          </p:txBody>
        </p:sp>
        <p:sp>
          <p:nvSpPr>
            <p:cNvPr id="7" name="Text 4"/>
            <p:cNvSpPr/>
            <p:nvPr/>
          </p:nvSpPr>
          <p:spPr>
            <a:xfrm>
              <a:off x="6966407" y="4334256"/>
              <a:ext cx="2242924" cy="276045"/>
            </a:xfrm>
            <a:prstGeom prst="rect">
              <a:avLst/>
            </a:prstGeom>
            <a:noFill/>
            <a:ln/>
          </p:spPr>
          <p:txBody>
            <a:bodyPr wrap="square" lIns="0" tIns="0" rIns="0" bIns="0" rtlCol="0" anchor="ctr"/>
            <a:lstStyle/>
            <a:p>
              <a:pPr marL="0" indent="0" algn="ctr">
                <a:buNone/>
              </a:pPr>
              <a:r>
                <a:rPr lang="en-US" sz="1500" b="1" dirty="0">
                  <a:solidFill>
                    <a:srgbClr val="0B5A72"/>
                  </a:solidFill>
                  <a:latin typeface="맑은 고딕" pitchFamily="34" charset="0"/>
                  <a:ea typeface="맑은 고딕" pitchFamily="34" charset="-122"/>
                  <a:cs typeface="맑은 고딕" pitchFamily="34" charset="-120"/>
                </a:rPr>
                <a:t>2022-12-30</a:t>
              </a:r>
              <a:endParaRPr lang="en-US" sz="1500" dirty="0"/>
            </a:p>
          </p:txBody>
        </p:sp>
        <p:sp>
          <p:nvSpPr>
            <p:cNvPr id="8" name="Shape 5"/>
            <p:cNvSpPr/>
            <p:nvPr/>
          </p:nvSpPr>
          <p:spPr>
            <a:xfrm>
              <a:off x="9691319" y="3364992"/>
              <a:ext cx="2518976" cy="1397479"/>
            </a:xfrm>
            <a:prstGeom prst="roundRect">
              <a:avLst>
                <a:gd name="adj" fmla="val 3704"/>
              </a:avLst>
            </a:prstGeom>
            <a:solidFill>
              <a:srgbClr val="FFFFFF"/>
            </a:solidFill>
            <a:ln w="12700">
              <a:solidFill>
                <a:srgbClr val="B9C4C7"/>
              </a:solidFill>
              <a:prstDash val="solid"/>
            </a:ln>
          </p:spPr>
          <p:txBody>
            <a:bodyPr/>
            <a:lstStyle/>
            <a:p>
              <a:endParaRPr lang="ko-KR" altLang="en-US"/>
            </a:p>
          </p:txBody>
        </p:sp>
        <p:sp>
          <p:nvSpPr>
            <p:cNvPr id="9" name="Text 6"/>
            <p:cNvSpPr/>
            <p:nvPr/>
          </p:nvSpPr>
          <p:spPr>
            <a:xfrm>
              <a:off x="9837623" y="3602736"/>
              <a:ext cx="2242924" cy="396815"/>
            </a:xfrm>
            <a:prstGeom prst="rect">
              <a:avLst/>
            </a:prstGeom>
            <a:noFill/>
            <a:ln/>
          </p:spPr>
          <p:txBody>
            <a:bodyPr wrap="square" lIns="0" tIns="0" rIns="0" bIns="0" rtlCol="0" anchor="t"/>
            <a:lstStyle/>
            <a:p>
              <a:pPr marL="0" indent="0" algn="ctr">
                <a:buNone/>
              </a:pPr>
              <a:r>
                <a:rPr lang="en-US" sz="1800" b="1" dirty="0">
                  <a:solidFill>
                    <a:srgbClr val="14181A"/>
                  </a:solidFill>
                  <a:latin typeface="맑은 고딕" pitchFamily="34" charset="0"/>
                  <a:ea typeface="맑은 고딕" pitchFamily="34" charset="-122"/>
                  <a:cs typeface="맑은 고딕" pitchFamily="34" charset="-120"/>
                </a:rPr>
                <a:t>토양 특성·화학성</a:t>
              </a:r>
              <a:endParaRPr lang="en-US" sz="1800" dirty="0"/>
            </a:p>
          </p:txBody>
        </p:sp>
        <p:sp>
          <p:nvSpPr>
            <p:cNvPr id="10" name="Text 7"/>
            <p:cNvSpPr/>
            <p:nvPr/>
          </p:nvSpPr>
          <p:spPr>
            <a:xfrm>
              <a:off x="9837623" y="4078224"/>
              <a:ext cx="2242924" cy="241540"/>
            </a:xfrm>
            <a:prstGeom prst="rect">
              <a:avLst/>
            </a:prstGeom>
            <a:noFill/>
            <a:ln/>
          </p:spPr>
          <p:txBody>
            <a:bodyPr wrap="square" lIns="0" tIns="0" rIns="0" bIns="0" rtlCol="0" anchor="ctr"/>
            <a:lstStyle/>
            <a:p>
              <a:pPr marL="0" indent="0" algn="ctr">
                <a:buNone/>
              </a:pPr>
              <a:r>
                <a:rPr lang="en-US" sz="1250" dirty="0">
                  <a:solidFill>
                    <a:srgbClr val="55636A"/>
                  </a:solidFill>
                  <a:latin typeface="맑은 고딕" pitchFamily="34" charset="0"/>
                  <a:ea typeface="맑은 고딕" pitchFamily="34" charset="-122"/>
                  <a:cs typeface="맑은 고딕" pitchFamily="34" charset="-120"/>
                </a:rPr>
                <a:t>농촌진흥청</a:t>
              </a:r>
              <a:endParaRPr lang="en-US" sz="1250" dirty="0"/>
            </a:p>
          </p:txBody>
        </p:sp>
        <p:sp>
          <p:nvSpPr>
            <p:cNvPr id="11" name="Text 8"/>
            <p:cNvSpPr/>
            <p:nvPr/>
          </p:nvSpPr>
          <p:spPr>
            <a:xfrm>
              <a:off x="9837623" y="4334256"/>
              <a:ext cx="2242924" cy="276045"/>
            </a:xfrm>
            <a:prstGeom prst="rect">
              <a:avLst/>
            </a:prstGeom>
            <a:noFill/>
            <a:ln/>
          </p:spPr>
          <p:txBody>
            <a:bodyPr wrap="square" lIns="0" tIns="0" rIns="0" bIns="0" rtlCol="0" anchor="ctr"/>
            <a:lstStyle/>
            <a:p>
              <a:pPr marL="0" indent="0" algn="ctr">
                <a:buNone/>
              </a:pPr>
              <a:r>
                <a:rPr lang="en-US" sz="1500" b="1" dirty="0">
                  <a:solidFill>
                    <a:srgbClr val="0B5A72"/>
                  </a:solidFill>
                  <a:latin typeface="맑은 고딕" pitchFamily="34" charset="0"/>
                  <a:ea typeface="맑은 고딕" pitchFamily="34" charset="-122"/>
                  <a:cs typeface="맑은 고딕" pitchFamily="34" charset="-120"/>
                </a:rPr>
                <a:t>2025-05-02</a:t>
              </a:r>
              <a:endParaRPr lang="en-US" sz="1500" dirty="0"/>
            </a:p>
          </p:txBody>
        </p:sp>
        <p:sp>
          <p:nvSpPr>
            <p:cNvPr id="12" name="Shape 9"/>
            <p:cNvSpPr/>
            <p:nvPr/>
          </p:nvSpPr>
          <p:spPr>
            <a:xfrm>
              <a:off x="6820103" y="5084064"/>
              <a:ext cx="2518976" cy="1397479"/>
            </a:xfrm>
            <a:prstGeom prst="roundRect">
              <a:avLst>
                <a:gd name="adj" fmla="val 3704"/>
              </a:avLst>
            </a:prstGeom>
            <a:solidFill>
              <a:srgbClr val="FFFFFF"/>
            </a:solidFill>
            <a:ln w="12700">
              <a:solidFill>
                <a:srgbClr val="B9C4C7"/>
              </a:solidFill>
              <a:prstDash val="solid"/>
            </a:ln>
          </p:spPr>
          <p:txBody>
            <a:bodyPr/>
            <a:lstStyle/>
            <a:p>
              <a:endParaRPr lang="ko-KR" altLang="en-US"/>
            </a:p>
          </p:txBody>
        </p:sp>
        <p:sp>
          <p:nvSpPr>
            <p:cNvPr id="13" name="Text 10"/>
            <p:cNvSpPr/>
            <p:nvPr/>
          </p:nvSpPr>
          <p:spPr>
            <a:xfrm>
              <a:off x="6966407" y="5321808"/>
              <a:ext cx="2242924" cy="396815"/>
            </a:xfrm>
            <a:prstGeom prst="rect">
              <a:avLst/>
            </a:prstGeom>
            <a:noFill/>
            <a:ln/>
          </p:spPr>
          <p:txBody>
            <a:bodyPr wrap="square" lIns="0" tIns="0" rIns="0" bIns="0" rtlCol="0" anchor="t"/>
            <a:lstStyle/>
            <a:p>
              <a:pPr marL="0" indent="0" algn="ctr">
                <a:buNone/>
              </a:pPr>
              <a:r>
                <a:rPr lang="en-US" sz="1800" b="1" dirty="0">
                  <a:solidFill>
                    <a:srgbClr val="14181A"/>
                  </a:solidFill>
                  <a:latin typeface="맑은 고딕" pitchFamily="34" charset="0"/>
                  <a:ea typeface="맑은 고딕" pitchFamily="34" charset="-122"/>
                  <a:cs typeface="맑은 고딕" pitchFamily="34" charset="-120"/>
                </a:rPr>
                <a:t>단기예보</a:t>
              </a:r>
              <a:endParaRPr lang="en-US" sz="1800" dirty="0"/>
            </a:p>
          </p:txBody>
        </p:sp>
        <p:sp>
          <p:nvSpPr>
            <p:cNvPr id="14" name="Text 11"/>
            <p:cNvSpPr/>
            <p:nvPr/>
          </p:nvSpPr>
          <p:spPr>
            <a:xfrm>
              <a:off x="6966407" y="5797296"/>
              <a:ext cx="2242924" cy="241540"/>
            </a:xfrm>
            <a:prstGeom prst="rect">
              <a:avLst/>
            </a:prstGeom>
            <a:noFill/>
            <a:ln/>
          </p:spPr>
          <p:txBody>
            <a:bodyPr wrap="square" lIns="0" tIns="0" rIns="0" bIns="0" rtlCol="0" anchor="ctr"/>
            <a:lstStyle/>
            <a:p>
              <a:pPr marL="0" indent="0" algn="ctr">
                <a:buNone/>
              </a:pPr>
              <a:r>
                <a:rPr lang="en-US" sz="1250" dirty="0">
                  <a:solidFill>
                    <a:srgbClr val="55636A"/>
                  </a:solidFill>
                  <a:latin typeface="맑은 고딕" pitchFamily="34" charset="0"/>
                  <a:ea typeface="맑은 고딕" pitchFamily="34" charset="-122"/>
                  <a:cs typeface="맑은 고딕" pitchFamily="34" charset="-120"/>
                </a:rPr>
                <a:t>기상청</a:t>
              </a:r>
              <a:endParaRPr lang="en-US" sz="1250" dirty="0"/>
            </a:p>
          </p:txBody>
        </p:sp>
        <p:sp>
          <p:nvSpPr>
            <p:cNvPr id="15" name="Text 12"/>
            <p:cNvSpPr/>
            <p:nvPr/>
          </p:nvSpPr>
          <p:spPr>
            <a:xfrm>
              <a:off x="6966407" y="6053328"/>
              <a:ext cx="2242924" cy="276045"/>
            </a:xfrm>
            <a:prstGeom prst="rect">
              <a:avLst/>
            </a:prstGeom>
            <a:noFill/>
            <a:ln/>
          </p:spPr>
          <p:txBody>
            <a:bodyPr wrap="square" lIns="0" tIns="0" rIns="0" bIns="0" rtlCol="0" anchor="ctr"/>
            <a:lstStyle/>
            <a:p>
              <a:pPr marL="0" indent="0" algn="ctr">
                <a:buNone/>
              </a:pPr>
              <a:r>
                <a:rPr lang="en-US" sz="1500" b="1" dirty="0">
                  <a:solidFill>
                    <a:srgbClr val="0B5A72"/>
                  </a:solidFill>
                  <a:latin typeface="맑은 고딕" pitchFamily="34" charset="0"/>
                  <a:ea typeface="맑은 고딕" pitchFamily="34" charset="-122"/>
                  <a:cs typeface="맑은 고딕" pitchFamily="34" charset="-120"/>
                </a:rPr>
                <a:t>2026-08-05 08:00</a:t>
              </a:r>
              <a:endParaRPr lang="en-US" sz="1500" dirty="0"/>
            </a:p>
          </p:txBody>
        </p:sp>
        <p:sp>
          <p:nvSpPr>
            <p:cNvPr id="16" name="Shape 13"/>
            <p:cNvSpPr/>
            <p:nvPr/>
          </p:nvSpPr>
          <p:spPr>
            <a:xfrm>
              <a:off x="9691319" y="5084064"/>
              <a:ext cx="2518976" cy="1397479"/>
            </a:xfrm>
            <a:prstGeom prst="roundRect">
              <a:avLst>
                <a:gd name="adj" fmla="val 3704"/>
              </a:avLst>
            </a:prstGeom>
            <a:solidFill>
              <a:srgbClr val="FFFFFF"/>
            </a:solidFill>
            <a:ln w="12700">
              <a:solidFill>
                <a:srgbClr val="B9C4C7"/>
              </a:solidFill>
              <a:prstDash val="solid"/>
            </a:ln>
          </p:spPr>
          <p:txBody>
            <a:bodyPr/>
            <a:lstStyle/>
            <a:p>
              <a:endParaRPr lang="ko-KR" altLang="en-US" dirty="0"/>
            </a:p>
          </p:txBody>
        </p:sp>
        <p:sp>
          <p:nvSpPr>
            <p:cNvPr id="17" name="Text 14"/>
            <p:cNvSpPr/>
            <p:nvPr/>
          </p:nvSpPr>
          <p:spPr>
            <a:xfrm>
              <a:off x="9837623" y="5321808"/>
              <a:ext cx="2242924" cy="396815"/>
            </a:xfrm>
            <a:prstGeom prst="rect">
              <a:avLst/>
            </a:prstGeom>
            <a:noFill/>
            <a:ln/>
          </p:spPr>
          <p:txBody>
            <a:bodyPr wrap="square" lIns="0" tIns="0" rIns="0" bIns="0" rtlCol="0" anchor="t"/>
            <a:lstStyle/>
            <a:p>
              <a:pPr marL="0" indent="0" algn="ctr">
                <a:buNone/>
              </a:pPr>
              <a:r>
                <a:rPr lang="en-US" sz="1800" b="1" dirty="0">
                  <a:solidFill>
                    <a:srgbClr val="14181A"/>
                  </a:solidFill>
                  <a:latin typeface="맑은 고딕" pitchFamily="34" charset="0"/>
                  <a:ea typeface="맑은 고딕" pitchFamily="34" charset="-122"/>
                  <a:cs typeface="맑은 고딕" pitchFamily="34" charset="-120"/>
                </a:rPr>
                <a:t>최근 7일 관측</a:t>
              </a:r>
              <a:endParaRPr lang="en-US" sz="1800" dirty="0"/>
            </a:p>
          </p:txBody>
        </p:sp>
        <p:sp>
          <p:nvSpPr>
            <p:cNvPr id="18" name="Text 15"/>
            <p:cNvSpPr/>
            <p:nvPr/>
          </p:nvSpPr>
          <p:spPr>
            <a:xfrm>
              <a:off x="9837623" y="5797296"/>
              <a:ext cx="2242924" cy="241540"/>
            </a:xfrm>
            <a:prstGeom prst="rect">
              <a:avLst/>
            </a:prstGeom>
            <a:noFill/>
            <a:ln/>
          </p:spPr>
          <p:txBody>
            <a:bodyPr wrap="square" lIns="0" tIns="0" rIns="0" bIns="0" rtlCol="0" anchor="ctr"/>
            <a:lstStyle/>
            <a:p>
              <a:pPr marL="0" indent="0" algn="ctr">
                <a:buNone/>
              </a:pPr>
              <a:r>
                <a:rPr lang="en-US" sz="1250" dirty="0">
                  <a:solidFill>
                    <a:srgbClr val="55636A"/>
                  </a:solidFill>
                  <a:latin typeface="맑은 고딕" pitchFamily="34" charset="0"/>
                  <a:ea typeface="맑은 고딕" pitchFamily="34" charset="-122"/>
                  <a:cs typeface="맑은 고딕" pitchFamily="34" charset="-120"/>
                </a:rPr>
                <a:t>농촌진흥청</a:t>
              </a:r>
              <a:endParaRPr lang="en-US" sz="1250" dirty="0"/>
            </a:p>
          </p:txBody>
        </p:sp>
        <p:sp>
          <p:nvSpPr>
            <p:cNvPr id="19" name="Text 16"/>
            <p:cNvSpPr/>
            <p:nvPr/>
          </p:nvSpPr>
          <p:spPr>
            <a:xfrm>
              <a:off x="9837623" y="6053328"/>
              <a:ext cx="2242924" cy="276045"/>
            </a:xfrm>
            <a:prstGeom prst="rect">
              <a:avLst/>
            </a:prstGeom>
            <a:noFill/>
            <a:ln/>
          </p:spPr>
          <p:txBody>
            <a:bodyPr wrap="square" lIns="0" tIns="0" rIns="0" bIns="0" rtlCol="0" anchor="ctr"/>
            <a:lstStyle/>
            <a:p>
              <a:pPr marL="0" indent="0" algn="ctr">
                <a:buNone/>
              </a:pPr>
              <a:r>
                <a:rPr lang="en-US" sz="1500" b="1" dirty="0">
                  <a:solidFill>
                    <a:srgbClr val="0B5A72"/>
                  </a:solidFill>
                  <a:latin typeface="맑은 고딕" pitchFamily="34" charset="0"/>
                  <a:ea typeface="맑은 고딕" pitchFamily="34" charset="-122"/>
                  <a:cs typeface="맑은 고딕" pitchFamily="34" charset="-120"/>
                </a:rPr>
                <a:t>2026-07-29~08-04</a:t>
              </a:r>
              <a:endParaRPr lang="en-US" sz="1500" dirty="0"/>
            </a:p>
          </p:txBody>
        </p:sp>
      </p:grpSp>
      <p:sp>
        <p:nvSpPr>
          <p:cNvPr id="20" name="Text 17"/>
          <p:cNvSpPr/>
          <p:nvPr/>
        </p:nvSpPr>
        <p:spPr>
          <a:xfrm>
            <a:off x="566928" y="713232"/>
            <a:ext cx="11057839" cy="1234440"/>
          </a:xfrm>
          <a:prstGeom prst="rect">
            <a:avLst/>
          </a:prstGeom>
          <a:noFill/>
          <a:ln/>
        </p:spPr>
        <p:txBody>
          <a:bodyPr wrap="square" lIns="0" tIns="0" rIns="0" bIns="0" rtlCol="0" anchor="t"/>
          <a:lstStyle/>
          <a:p>
            <a:pPr marL="0" indent="0">
              <a:lnSpc>
                <a:spcPct val="118000"/>
              </a:lnSpc>
              <a:buNone/>
            </a:pPr>
            <a:r>
              <a:rPr lang="en-US" sz="2700" b="1" dirty="0">
                <a:solidFill>
                  <a:srgbClr val="14181A"/>
                </a:solidFill>
                <a:latin typeface="맑은 고딕" pitchFamily="34" charset="0"/>
                <a:ea typeface="맑은 고딕" pitchFamily="34" charset="-122"/>
                <a:cs typeface="맑은 고딕" pitchFamily="34" charset="-120"/>
              </a:rPr>
              <a:t>자료가 없는 것이 아니라, 서로 다른 기관·단위에 있어</a:t>
            </a:r>
            <a:endParaRPr lang="en-US" sz="2700" dirty="0"/>
          </a:p>
          <a:p>
            <a:pPr marL="0" indent="0">
              <a:lnSpc>
                <a:spcPct val="118000"/>
              </a:lnSpc>
              <a:buNone/>
            </a:pPr>
            <a:r>
              <a:rPr lang="en-US" sz="2700" b="1" dirty="0">
                <a:solidFill>
                  <a:srgbClr val="14181A"/>
                </a:solidFill>
                <a:latin typeface="맑은 고딕" pitchFamily="34" charset="0"/>
                <a:ea typeface="맑은 고딕" pitchFamily="34" charset="-122"/>
                <a:cs typeface="맑은 고딕" pitchFamily="34" charset="-120"/>
              </a:rPr>
              <a:t>내 농지로 이어지지 않습니다</a:t>
            </a:r>
            <a:endParaRPr lang="en-US" sz="2700" dirty="0"/>
          </a:p>
        </p:txBody>
      </p:sp>
      <p:sp>
        <p:nvSpPr>
          <p:cNvPr id="21" name="Text 18"/>
          <p:cNvSpPr/>
          <p:nvPr/>
        </p:nvSpPr>
        <p:spPr>
          <a:xfrm>
            <a:off x="566928" y="1828800"/>
            <a:ext cx="7863840" cy="310896"/>
          </a:xfrm>
          <a:prstGeom prst="rect">
            <a:avLst/>
          </a:prstGeom>
          <a:noFill/>
          <a:ln/>
        </p:spPr>
        <p:txBody>
          <a:bodyPr wrap="square" lIns="0" tIns="0" rIns="0" bIns="0" rtlCol="0" anchor="ctr"/>
          <a:lstStyle/>
          <a:p>
            <a:pPr marL="0" indent="0">
              <a:buNone/>
            </a:pPr>
            <a:r>
              <a:rPr lang="en-US" sz="1600" b="1" dirty="0">
                <a:solidFill>
                  <a:srgbClr val="0B5A72"/>
                </a:solidFill>
                <a:latin typeface="맑은 고딕" pitchFamily="34" charset="0"/>
                <a:ea typeface="맑은 고딕" pitchFamily="34" charset="-122"/>
                <a:cs typeface="맑은 고딕" pitchFamily="34" charset="-120"/>
              </a:rPr>
              <a:t>같은 농지에 대는 자료 넷이 4년 가까이 벌어져 있습니다</a:t>
            </a:r>
            <a:endParaRPr lang="en-US" sz="1600" dirty="0"/>
          </a:p>
        </p:txBody>
      </p:sp>
      <p:sp>
        <p:nvSpPr>
          <p:cNvPr id="22" name="Text 19"/>
          <p:cNvSpPr/>
          <p:nvPr/>
        </p:nvSpPr>
        <p:spPr>
          <a:xfrm>
            <a:off x="8332927" y="384048"/>
            <a:ext cx="3291840" cy="256032"/>
          </a:xfrm>
          <a:prstGeom prst="rect">
            <a:avLst/>
          </a:prstGeom>
          <a:noFill/>
          <a:ln/>
        </p:spPr>
        <p:txBody>
          <a:bodyPr wrap="square" lIns="0" tIns="0" rIns="0" bIns="0" rtlCol="0" anchor="ctr"/>
          <a:lstStyle/>
          <a:p>
            <a:pPr marL="0" indent="0" algn="r">
              <a:buNone/>
            </a:pPr>
            <a:r>
              <a:rPr lang="en-US" sz="1100" b="1" dirty="0">
                <a:solidFill>
                  <a:srgbClr val="0E7490"/>
                </a:solidFill>
                <a:latin typeface="맑은 고딕" pitchFamily="34" charset="0"/>
                <a:ea typeface="맑은 고딕" pitchFamily="34" charset="-122"/>
                <a:cs typeface="맑은 고딕" pitchFamily="34" charset="-120"/>
              </a:rPr>
              <a:t>화면 근거 · 03 사용한 자료 · 01-B</a:t>
            </a:r>
            <a:endParaRPr lang="en-US" sz="1100" dirty="0"/>
          </a:p>
        </p:txBody>
      </p:sp>
      <p:sp>
        <p:nvSpPr>
          <p:cNvPr id="23" name="Text 20"/>
          <p:cNvSpPr/>
          <p:nvPr/>
        </p:nvSpPr>
        <p:spPr>
          <a:xfrm>
            <a:off x="10984687" y="6291072"/>
            <a:ext cx="603864" cy="258792"/>
          </a:xfrm>
          <a:prstGeom prst="rect">
            <a:avLst/>
          </a:prstGeom>
          <a:noFill/>
          <a:ln/>
        </p:spPr>
        <p:txBody>
          <a:bodyPr wrap="square" lIns="0" tIns="0" rIns="0" bIns="0" rtlCol="0" anchor="ctr"/>
          <a:lstStyle/>
          <a:p>
            <a:pPr marL="0" indent="0" algn="r">
              <a:buNone/>
            </a:pPr>
            <a:r>
              <a:rPr lang="en-US" sz="1100" b="1" dirty="0">
                <a:solidFill>
                  <a:srgbClr val="B9C4C7"/>
                </a:solidFill>
                <a:latin typeface="맑은 고딕" pitchFamily="34" charset="0"/>
                <a:ea typeface="맑은 고딕" pitchFamily="34" charset="-122"/>
                <a:cs typeface="맑은 고딕" pitchFamily="34" charset="-120"/>
              </a:rPr>
              <a:t>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A"/>
        </a:solidFill>
        <a:effectLst/>
      </p:bgPr>
    </p:bg>
    <p:spTree>
      <p:nvGrpSpPr>
        <p:cNvPr id="1" name=""/>
        <p:cNvGrpSpPr/>
        <p:nvPr/>
      </p:nvGrpSpPr>
      <p:grpSpPr>
        <a:xfrm>
          <a:off x="0" y="0"/>
          <a:ext cx="0" cy="0"/>
          <a:chOff x="0" y="0"/>
          <a:chExt cx="0" cy="0"/>
        </a:xfrm>
      </p:grpSpPr>
      <p:sp>
        <p:nvSpPr>
          <p:cNvPr id="2" name="Text 0"/>
          <p:cNvSpPr/>
          <p:nvPr/>
        </p:nvSpPr>
        <p:spPr>
          <a:xfrm>
            <a:off x="8332927" y="384048"/>
            <a:ext cx="3291840" cy="256032"/>
          </a:xfrm>
          <a:prstGeom prst="rect">
            <a:avLst/>
          </a:prstGeom>
          <a:noFill/>
          <a:ln/>
        </p:spPr>
        <p:txBody>
          <a:bodyPr wrap="square" lIns="0" tIns="0" rIns="0" bIns="0" rtlCol="0" anchor="ctr"/>
          <a:lstStyle/>
          <a:p>
            <a:pPr marL="0" indent="0" algn="r">
              <a:buNone/>
            </a:pPr>
            <a:r>
              <a:rPr lang="en-US" sz="1100" b="1" dirty="0">
                <a:solidFill>
                  <a:srgbClr val="0E7490"/>
                </a:solidFill>
                <a:latin typeface="맑은 고딕" pitchFamily="34" charset="0"/>
                <a:ea typeface="맑은 고딕" pitchFamily="34" charset="-122"/>
                <a:cs typeface="맑은 고딕" pitchFamily="34" charset="-120"/>
              </a:rPr>
              <a:t>라이브 · 배포본</a:t>
            </a:r>
            <a:endParaRPr lang="en-US" sz="1100" dirty="0"/>
          </a:p>
        </p:txBody>
      </p:sp>
      <p:sp>
        <p:nvSpPr>
          <p:cNvPr id="3" name="Text 1"/>
          <p:cNvSpPr/>
          <p:nvPr/>
        </p:nvSpPr>
        <p:spPr>
          <a:xfrm>
            <a:off x="566928" y="822960"/>
            <a:ext cx="11057839" cy="1234440"/>
          </a:xfrm>
          <a:prstGeom prst="rect">
            <a:avLst/>
          </a:prstGeom>
          <a:noFill/>
          <a:ln/>
        </p:spPr>
        <p:txBody>
          <a:bodyPr wrap="square" lIns="0" tIns="0" rIns="0" bIns="0" rtlCol="0" anchor="t"/>
          <a:lstStyle/>
          <a:p>
            <a:pPr marL="0" indent="0">
              <a:lnSpc>
                <a:spcPct val="118000"/>
              </a:lnSpc>
              <a:buNone/>
            </a:pPr>
            <a:r>
              <a:rPr lang="en-US" sz="2800" b="1" dirty="0">
                <a:solidFill>
                  <a:srgbClr val="14181A"/>
                </a:solidFill>
                <a:latin typeface="맑은 고딕" pitchFamily="34" charset="0"/>
                <a:ea typeface="맑은 고딕" pitchFamily="34" charset="-122"/>
                <a:cs typeface="맑은 고딕" pitchFamily="34" charset="-120"/>
              </a:rPr>
              <a:t>이 다섯 고리는 지금 배포된 서비스에서 실제로 이어집니다</a:t>
            </a:r>
            <a:endParaRPr lang="en-US" sz="2800" dirty="0"/>
          </a:p>
        </p:txBody>
      </p:sp>
      <p:sp>
        <p:nvSpPr>
          <p:cNvPr id="4" name="Shape 2"/>
          <p:cNvSpPr/>
          <p:nvPr/>
        </p:nvSpPr>
        <p:spPr>
          <a:xfrm>
            <a:off x="566928" y="2011680"/>
            <a:ext cx="11057839" cy="914400"/>
          </a:xfrm>
          <a:prstGeom prst="roundRect">
            <a:avLst>
              <a:gd name="adj" fmla="val 8000"/>
            </a:avLst>
          </a:prstGeom>
          <a:solidFill>
            <a:srgbClr val="CFFAFE"/>
          </a:solidFill>
          <a:ln w="12700">
            <a:solidFill>
              <a:srgbClr val="0E7490"/>
            </a:solidFill>
            <a:prstDash val="solid"/>
          </a:ln>
        </p:spPr>
        <p:txBody>
          <a:bodyPr/>
          <a:lstStyle/>
          <a:p>
            <a:endParaRPr lang="ko-KR" altLang="en-US"/>
          </a:p>
        </p:txBody>
      </p:sp>
      <p:sp>
        <p:nvSpPr>
          <p:cNvPr id="5" name="Text 3"/>
          <p:cNvSpPr/>
          <p:nvPr/>
        </p:nvSpPr>
        <p:spPr>
          <a:xfrm>
            <a:off x="566928" y="2011680"/>
            <a:ext cx="11057839" cy="914400"/>
          </a:xfrm>
          <a:prstGeom prst="rect">
            <a:avLst/>
          </a:prstGeom>
          <a:noFill/>
          <a:ln/>
        </p:spPr>
        <p:txBody>
          <a:bodyPr wrap="square" lIns="0" tIns="0" rIns="0" bIns="0" rtlCol="0" anchor="ctr"/>
          <a:lstStyle/>
          <a:p>
            <a:pPr algn="ctr"/>
            <a:r>
              <a:rPr lang="en-US" sz="3400" b="1" dirty="0">
                <a:solidFill>
                  <a:srgbClr val="0B5A72"/>
                </a:solidFill>
                <a:latin typeface="맑은 고딕" pitchFamily="34" charset="0"/>
                <a:ea typeface="맑은 고딕" pitchFamily="34" charset="-122"/>
                <a:cs typeface="맑은 고딕" pitchFamily="34" charset="-120"/>
              </a:rPr>
              <a:t>https://batboda.vercel.app</a:t>
            </a:r>
            <a:endParaRPr lang="en-US" sz="3400" dirty="0"/>
          </a:p>
        </p:txBody>
      </p:sp>
      <p:sp>
        <p:nvSpPr>
          <p:cNvPr id="6" name="Text 4"/>
          <p:cNvSpPr/>
          <p:nvPr/>
        </p:nvSpPr>
        <p:spPr>
          <a:xfrm>
            <a:off x="566928" y="3108960"/>
            <a:ext cx="5577840" cy="292608"/>
          </a:xfrm>
          <a:prstGeom prst="rect">
            <a:avLst/>
          </a:prstGeom>
          <a:noFill/>
          <a:ln/>
        </p:spPr>
        <p:txBody>
          <a:bodyPr wrap="square" lIns="0" tIns="0" rIns="0" bIns="0" rtlCol="0" anchor="ctr"/>
          <a:lstStyle/>
          <a:p>
            <a:pPr marL="0" indent="0">
              <a:buNone/>
            </a:pPr>
            <a:r>
              <a:rPr lang="en-US" sz="1500" b="1" dirty="0">
                <a:solidFill>
                  <a:srgbClr val="14181A"/>
                </a:solidFill>
                <a:latin typeface="맑은 고딕" pitchFamily="34" charset="0"/>
                <a:ea typeface="맑은 고딕" pitchFamily="34" charset="-122"/>
                <a:cs typeface="맑은 고딕" pitchFamily="34" charset="-120"/>
              </a:rPr>
              <a:t>대관령면 85-61전 · 상추 · 3일</a:t>
            </a:r>
            <a:endParaRPr lang="en-US" sz="1500" dirty="0"/>
          </a:p>
        </p:txBody>
      </p:sp>
      <p:sp>
        <p:nvSpPr>
          <p:cNvPr id="7" name="Text 5"/>
          <p:cNvSpPr/>
          <p:nvPr/>
        </p:nvSpPr>
        <p:spPr>
          <a:xfrm>
            <a:off x="566928" y="3108960"/>
            <a:ext cx="11057839" cy="292608"/>
          </a:xfrm>
          <a:prstGeom prst="rect">
            <a:avLst/>
          </a:prstGeom>
          <a:noFill/>
          <a:ln/>
        </p:spPr>
        <p:txBody>
          <a:bodyPr wrap="square" lIns="0" tIns="0" rIns="0" bIns="0" rtlCol="0" anchor="ctr"/>
          <a:lstStyle/>
          <a:p>
            <a:pPr marL="0" indent="0" algn="r">
              <a:buNone/>
            </a:pPr>
            <a:r>
              <a:rPr lang="en-US" sz="1500" b="1" dirty="0">
                <a:solidFill>
                  <a:srgbClr val="0B5A72"/>
                </a:solidFill>
                <a:latin typeface="맑은 고딕" pitchFamily="34" charset="0"/>
                <a:ea typeface="맑은 고딕" pitchFamily="34" charset="-122"/>
                <a:cs typeface="맑은 고딕" pitchFamily="34" charset="-120"/>
              </a:rPr>
              <a:t>지금부터 보실 순서</a:t>
            </a:r>
            <a:endParaRPr lang="en-US" sz="1500" dirty="0"/>
          </a:p>
        </p:txBody>
      </p:sp>
      <p:pic>
        <p:nvPicPr>
          <p:cNvPr id="8" name="Image 0" descr="D:/Projects/batboda/발표/캡처/20260805_C01_대관령85-61전_경계.png"/>
          <p:cNvPicPr>
            <a:picLocks noChangeAspect="1"/>
          </p:cNvPicPr>
          <p:nvPr/>
        </p:nvPicPr>
        <p:blipFill>
          <a:blip r:embed="rId3"/>
          <a:stretch>
            <a:fillRect/>
          </a:stretch>
        </p:blipFill>
        <p:spPr>
          <a:xfrm>
            <a:off x="566928" y="4069178"/>
            <a:ext cx="2079894" cy="1170237"/>
          </a:xfrm>
          <a:prstGeom prst="rect">
            <a:avLst/>
          </a:prstGeom>
        </p:spPr>
      </p:pic>
      <p:sp>
        <p:nvSpPr>
          <p:cNvPr id="9" name="Text 6"/>
          <p:cNvSpPr/>
          <p:nvPr/>
        </p:nvSpPr>
        <p:spPr>
          <a:xfrm>
            <a:off x="566928" y="5870448"/>
            <a:ext cx="2079894" cy="274320"/>
          </a:xfrm>
          <a:prstGeom prst="rect">
            <a:avLst/>
          </a:prstGeom>
          <a:noFill/>
          <a:ln/>
        </p:spPr>
        <p:txBody>
          <a:bodyPr wrap="square" lIns="0" tIns="0" rIns="0" bIns="0" rtlCol="0" anchor="ctr"/>
          <a:lstStyle/>
          <a:p>
            <a:pPr marL="0" indent="0" algn="ctr">
              <a:buNone/>
            </a:pPr>
            <a:r>
              <a:rPr lang="en-US" sz="2400" b="1" dirty="0">
                <a:solidFill>
                  <a:srgbClr val="0B5A72"/>
                </a:solidFill>
                <a:latin typeface="맑은 고딕" pitchFamily="34" charset="0"/>
                <a:ea typeface="맑은 고딕" pitchFamily="34" charset="-122"/>
                <a:cs typeface="맑은 고딕" pitchFamily="34" charset="-120"/>
              </a:rPr>
              <a:t>농지 경계</a:t>
            </a:r>
            <a:endParaRPr lang="en-US" sz="2400" dirty="0"/>
          </a:p>
        </p:txBody>
      </p:sp>
      <p:pic>
        <p:nvPicPr>
          <p:cNvPr id="10" name="Image 1" descr="D:/Projects/batboda/발표/캡처/20260805_C02_판정서_상단.png"/>
          <p:cNvPicPr>
            <a:picLocks noChangeAspect="1"/>
          </p:cNvPicPr>
          <p:nvPr/>
        </p:nvPicPr>
        <p:blipFill>
          <a:blip r:embed="rId4"/>
          <a:stretch>
            <a:fillRect/>
          </a:stretch>
        </p:blipFill>
        <p:spPr>
          <a:xfrm>
            <a:off x="2811414" y="4033443"/>
            <a:ext cx="2079894" cy="1241706"/>
          </a:xfrm>
          <a:prstGeom prst="rect">
            <a:avLst/>
          </a:prstGeom>
        </p:spPr>
      </p:pic>
      <p:sp>
        <p:nvSpPr>
          <p:cNvPr id="11" name="Text 7"/>
          <p:cNvSpPr/>
          <p:nvPr/>
        </p:nvSpPr>
        <p:spPr>
          <a:xfrm>
            <a:off x="2811414" y="5870448"/>
            <a:ext cx="2079894" cy="274320"/>
          </a:xfrm>
          <a:prstGeom prst="rect">
            <a:avLst/>
          </a:prstGeom>
          <a:noFill/>
          <a:ln/>
        </p:spPr>
        <p:txBody>
          <a:bodyPr wrap="square" lIns="0" tIns="0" rIns="0" bIns="0" rtlCol="0" anchor="ctr"/>
          <a:lstStyle/>
          <a:p>
            <a:pPr marL="0" indent="0" algn="ctr">
              <a:buNone/>
            </a:pPr>
            <a:r>
              <a:rPr lang="en-US" sz="2400" b="1" dirty="0">
                <a:solidFill>
                  <a:srgbClr val="0B5A72"/>
                </a:solidFill>
                <a:latin typeface="맑은 고딕" pitchFamily="34" charset="0"/>
                <a:ea typeface="맑은 고딕" pitchFamily="34" charset="-122"/>
                <a:cs typeface="맑은 고딕" pitchFamily="34" charset="-120"/>
              </a:rPr>
              <a:t>판정과 상태</a:t>
            </a:r>
            <a:endParaRPr lang="en-US" sz="2400" dirty="0"/>
          </a:p>
        </p:txBody>
      </p:sp>
      <p:pic>
        <p:nvPicPr>
          <p:cNvPr id="12" name="Image 2" descr="D:/Projects/batboda/발표/캡처/20260805_C03_산도_기온_눈금.png"/>
          <p:cNvPicPr>
            <a:picLocks noChangeAspect="1"/>
          </p:cNvPicPr>
          <p:nvPr/>
        </p:nvPicPr>
        <p:blipFill>
          <a:blip r:embed="rId5"/>
          <a:stretch>
            <a:fillRect/>
          </a:stretch>
        </p:blipFill>
        <p:spPr>
          <a:xfrm>
            <a:off x="5202385" y="3529584"/>
            <a:ext cx="1786926" cy="2249424"/>
          </a:xfrm>
          <a:prstGeom prst="rect">
            <a:avLst/>
          </a:prstGeom>
        </p:spPr>
      </p:pic>
      <p:sp>
        <p:nvSpPr>
          <p:cNvPr id="13" name="Text 8"/>
          <p:cNvSpPr/>
          <p:nvPr/>
        </p:nvSpPr>
        <p:spPr>
          <a:xfrm>
            <a:off x="5055900" y="5870448"/>
            <a:ext cx="2079894" cy="274320"/>
          </a:xfrm>
          <a:prstGeom prst="rect">
            <a:avLst/>
          </a:prstGeom>
          <a:noFill/>
          <a:ln/>
        </p:spPr>
        <p:txBody>
          <a:bodyPr wrap="square" lIns="0" tIns="0" rIns="0" bIns="0" rtlCol="0" anchor="ctr"/>
          <a:lstStyle/>
          <a:p>
            <a:pPr marL="0" indent="0" algn="ctr">
              <a:buNone/>
            </a:pPr>
            <a:r>
              <a:rPr lang="en-US" sz="2400" b="1" dirty="0">
                <a:solidFill>
                  <a:srgbClr val="0B5A72"/>
                </a:solidFill>
                <a:latin typeface="맑은 고딕" pitchFamily="34" charset="0"/>
                <a:ea typeface="맑은 고딕" pitchFamily="34" charset="-122"/>
                <a:cs typeface="맑은 고딕" pitchFamily="34" charset="-120"/>
              </a:rPr>
              <a:t>기준 대조</a:t>
            </a:r>
            <a:endParaRPr lang="en-US" sz="2400" dirty="0"/>
          </a:p>
        </p:txBody>
      </p:sp>
      <p:pic>
        <p:nvPicPr>
          <p:cNvPr id="14" name="Image 3" descr="D:/Projects/batboda/발표/캡처/20260805_C04_사용한자료_표.png"/>
          <p:cNvPicPr>
            <a:picLocks noChangeAspect="1"/>
          </p:cNvPicPr>
          <p:nvPr/>
        </p:nvPicPr>
        <p:blipFill>
          <a:blip r:embed="rId6"/>
          <a:stretch>
            <a:fillRect/>
          </a:stretch>
        </p:blipFill>
        <p:spPr>
          <a:xfrm>
            <a:off x="7300387" y="3884860"/>
            <a:ext cx="2079894" cy="1538872"/>
          </a:xfrm>
          <a:prstGeom prst="rect">
            <a:avLst/>
          </a:prstGeom>
        </p:spPr>
      </p:pic>
      <p:sp>
        <p:nvSpPr>
          <p:cNvPr id="15" name="Text 9"/>
          <p:cNvSpPr/>
          <p:nvPr/>
        </p:nvSpPr>
        <p:spPr>
          <a:xfrm>
            <a:off x="7300387" y="5870448"/>
            <a:ext cx="2079894" cy="274320"/>
          </a:xfrm>
          <a:prstGeom prst="rect">
            <a:avLst/>
          </a:prstGeom>
          <a:noFill/>
          <a:ln/>
        </p:spPr>
        <p:txBody>
          <a:bodyPr wrap="square" lIns="0" tIns="0" rIns="0" bIns="0" rtlCol="0" anchor="ctr"/>
          <a:lstStyle/>
          <a:p>
            <a:pPr marL="0" indent="0" algn="ctr">
              <a:buNone/>
            </a:pPr>
            <a:r>
              <a:rPr lang="en-US" sz="2400" b="1" dirty="0">
                <a:solidFill>
                  <a:srgbClr val="0B5A72"/>
                </a:solidFill>
                <a:latin typeface="맑은 고딕" pitchFamily="34" charset="0"/>
                <a:ea typeface="맑은 고딕" pitchFamily="34" charset="-122"/>
                <a:cs typeface="맑은 고딕" pitchFamily="34" charset="-120"/>
              </a:rPr>
              <a:t>출처 추적</a:t>
            </a:r>
            <a:endParaRPr lang="en-US" sz="2400" dirty="0"/>
          </a:p>
        </p:txBody>
      </p:sp>
      <p:pic>
        <p:nvPicPr>
          <p:cNvPr id="16" name="Image 4" descr="D:/Projects/batboda/발표/캡처/20260805_C07_04_상단_결론과근거.png"/>
          <p:cNvPicPr>
            <a:picLocks noChangeAspect="1"/>
          </p:cNvPicPr>
          <p:nvPr/>
        </p:nvPicPr>
        <p:blipFill>
          <a:blip r:embed="rId7"/>
          <a:stretch>
            <a:fillRect/>
          </a:stretch>
        </p:blipFill>
        <p:spPr>
          <a:xfrm>
            <a:off x="9544873" y="3842857"/>
            <a:ext cx="2079894" cy="1622877"/>
          </a:xfrm>
          <a:prstGeom prst="rect">
            <a:avLst/>
          </a:prstGeom>
        </p:spPr>
      </p:pic>
      <p:sp>
        <p:nvSpPr>
          <p:cNvPr id="17" name="Text 10"/>
          <p:cNvSpPr/>
          <p:nvPr/>
        </p:nvSpPr>
        <p:spPr>
          <a:xfrm>
            <a:off x="9544873" y="5870448"/>
            <a:ext cx="2079894" cy="274320"/>
          </a:xfrm>
          <a:prstGeom prst="rect">
            <a:avLst/>
          </a:prstGeom>
          <a:noFill/>
          <a:ln/>
        </p:spPr>
        <p:txBody>
          <a:bodyPr wrap="square" lIns="0" tIns="0" rIns="0" bIns="0" rtlCol="0" anchor="ctr"/>
          <a:lstStyle/>
          <a:p>
            <a:pPr marL="0" indent="0" algn="ctr">
              <a:buNone/>
            </a:pPr>
            <a:r>
              <a:rPr lang="en-US" sz="2400" b="1" dirty="0">
                <a:solidFill>
                  <a:srgbClr val="0B5A72"/>
                </a:solidFill>
                <a:latin typeface="맑은 고딕" pitchFamily="34" charset="0"/>
                <a:ea typeface="맑은 고딕" pitchFamily="34" charset="-122"/>
                <a:cs typeface="맑은 고딕" pitchFamily="34" charset="-120"/>
              </a:rPr>
              <a:t>쉬운 말</a:t>
            </a:r>
            <a:endParaRPr lang="en-US" sz="2400" dirty="0"/>
          </a:p>
        </p:txBody>
      </p:sp>
      <p:sp>
        <p:nvSpPr>
          <p:cNvPr id="18" name="Text 11"/>
          <p:cNvSpPr/>
          <p:nvPr/>
        </p:nvSpPr>
        <p:spPr>
          <a:xfrm>
            <a:off x="10984687" y="6291072"/>
            <a:ext cx="640080" cy="274320"/>
          </a:xfrm>
          <a:prstGeom prst="rect">
            <a:avLst/>
          </a:prstGeom>
          <a:noFill/>
          <a:ln/>
        </p:spPr>
        <p:txBody>
          <a:bodyPr wrap="square" lIns="0" tIns="0" rIns="0" bIns="0" rtlCol="0" anchor="ctr"/>
          <a:lstStyle/>
          <a:p>
            <a:pPr marL="0" indent="0" algn="r">
              <a:buNone/>
            </a:pPr>
            <a:r>
              <a:rPr lang="en-US" sz="1100" b="1" dirty="0">
                <a:solidFill>
                  <a:srgbClr val="B9C4C7"/>
                </a:solidFill>
                <a:latin typeface="맑은 고딕" pitchFamily="34" charset="0"/>
                <a:ea typeface="맑은 고딕" pitchFamily="34" charset="-122"/>
                <a:cs typeface="맑은 고딕"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A"/>
        </a:solidFill>
        <a:effectLst/>
      </p:bgPr>
    </p:bg>
    <p:spTree>
      <p:nvGrpSpPr>
        <p:cNvPr id="1" name=""/>
        <p:cNvGrpSpPr/>
        <p:nvPr/>
      </p:nvGrpSpPr>
      <p:grpSpPr>
        <a:xfrm>
          <a:off x="0" y="0"/>
          <a:ext cx="0" cy="0"/>
          <a:chOff x="0" y="0"/>
          <a:chExt cx="0" cy="0"/>
        </a:xfrm>
      </p:grpSpPr>
      <p:sp>
        <p:nvSpPr>
          <p:cNvPr id="2" name="Text 0"/>
          <p:cNvSpPr/>
          <p:nvPr/>
        </p:nvSpPr>
        <p:spPr>
          <a:xfrm>
            <a:off x="8332927" y="384048"/>
            <a:ext cx="3291840" cy="256032"/>
          </a:xfrm>
          <a:prstGeom prst="rect">
            <a:avLst/>
          </a:prstGeom>
          <a:noFill/>
          <a:ln/>
        </p:spPr>
        <p:txBody>
          <a:bodyPr wrap="square" lIns="0" tIns="0" rIns="0" bIns="0" rtlCol="0" anchor="ctr"/>
          <a:lstStyle/>
          <a:p>
            <a:pPr marL="0" indent="0" algn="r">
              <a:buNone/>
            </a:pPr>
            <a:r>
              <a:rPr lang="en-US" sz="1100" b="1" dirty="0">
                <a:solidFill>
                  <a:srgbClr val="0E7490"/>
                </a:solidFill>
                <a:latin typeface="맑은 고딕" pitchFamily="34" charset="0"/>
                <a:ea typeface="맑은 고딕" pitchFamily="34" charset="-122"/>
                <a:cs typeface="맑은 고딕" pitchFamily="34" charset="-120"/>
              </a:rPr>
              <a:t>화면 근거 · 04 쉬운 말 보고서</a:t>
            </a:r>
            <a:endParaRPr lang="en-US" sz="1100" dirty="0"/>
          </a:p>
        </p:txBody>
      </p:sp>
      <p:sp>
        <p:nvSpPr>
          <p:cNvPr id="3" name="Text 1"/>
          <p:cNvSpPr/>
          <p:nvPr/>
        </p:nvSpPr>
        <p:spPr>
          <a:xfrm>
            <a:off x="566928" y="749808"/>
            <a:ext cx="11057839" cy="1234440"/>
          </a:xfrm>
          <a:prstGeom prst="rect">
            <a:avLst/>
          </a:prstGeom>
          <a:noFill/>
          <a:ln/>
        </p:spPr>
        <p:txBody>
          <a:bodyPr wrap="square" lIns="0" tIns="0" rIns="0" bIns="0" rtlCol="0" anchor="t"/>
          <a:lstStyle/>
          <a:p>
            <a:pPr marL="0" indent="0">
              <a:lnSpc>
                <a:spcPct val="118000"/>
              </a:lnSpc>
              <a:buNone/>
            </a:pPr>
            <a:r>
              <a:rPr lang="en-US" sz="2600" b="1" dirty="0">
                <a:solidFill>
                  <a:srgbClr val="14181A"/>
                </a:solidFill>
                <a:latin typeface="맑은 고딕" pitchFamily="34" charset="0"/>
                <a:ea typeface="맑은 고딕" pitchFamily="34" charset="-122"/>
                <a:cs typeface="맑은 고딕" pitchFamily="34" charset="-120"/>
              </a:rPr>
              <a:t>판정은 규칙이 확정하고, AI는 그 근거를 옮겨 씁니다.</a:t>
            </a:r>
            <a:endParaRPr lang="en-US" sz="2600" dirty="0"/>
          </a:p>
          <a:p>
            <a:pPr marL="0" indent="0">
              <a:lnSpc>
                <a:spcPct val="118000"/>
              </a:lnSpc>
              <a:buNone/>
            </a:pPr>
            <a:r>
              <a:rPr lang="en-US" sz="2600" b="1" dirty="0">
                <a:solidFill>
                  <a:srgbClr val="14181A"/>
                </a:solidFill>
                <a:latin typeface="맑은 고딕" pitchFamily="34" charset="0"/>
                <a:ea typeface="맑은 고딕" pitchFamily="34" charset="-122"/>
                <a:cs typeface="맑은 고딕" pitchFamily="34" charset="-120"/>
              </a:rPr>
              <a:t>틀리면 규칙 문장으로 되돌립니다</a:t>
            </a:r>
            <a:endParaRPr lang="en-US" sz="2600" dirty="0"/>
          </a:p>
        </p:txBody>
      </p:sp>
      <p:pic>
        <p:nvPicPr>
          <p:cNvPr id="4" name="Image 0" descr="D:/Projects/batboda/발표/캡처/20260805_C07_04_상단_결론과근거.png"/>
          <p:cNvPicPr>
            <a:picLocks noChangeAspect="1"/>
          </p:cNvPicPr>
          <p:nvPr/>
        </p:nvPicPr>
        <p:blipFill>
          <a:blip r:embed="rId3"/>
          <a:stretch>
            <a:fillRect/>
          </a:stretch>
        </p:blipFill>
        <p:spPr>
          <a:xfrm>
            <a:off x="731865" y="2330067"/>
            <a:ext cx="5419432" cy="4228615"/>
          </a:xfrm>
          <a:prstGeom prst="rect">
            <a:avLst/>
          </a:prstGeom>
        </p:spPr>
      </p:pic>
      <p:sp>
        <p:nvSpPr>
          <p:cNvPr id="5" name="Text 2"/>
          <p:cNvSpPr/>
          <p:nvPr/>
        </p:nvSpPr>
        <p:spPr>
          <a:xfrm>
            <a:off x="7034786" y="1920240"/>
            <a:ext cx="4596382" cy="274320"/>
          </a:xfrm>
          <a:prstGeom prst="rect">
            <a:avLst/>
          </a:prstGeom>
          <a:noFill/>
          <a:ln/>
        </p:spPr>
        <p:txBody>
          <a:bodyPr wrap="square" lIns="0" tIns="0" rIns="0" bIns="0" rtlCol="0" anchor="ctr"/>
          <a:lstStyle/>
          <a:p>
            <a:pPr marL="0" indent="0">
              <a:buNone/>
            </a:pPr>
            <a:r>
              <a:rPr lang="en-US" sz="1400" b="1" dirty="0">
                <a:solidFill>
                  <a:srgbClr val="0B5A72"/>
                </a:solidFill>
                <a:latin typeface="맑은 고딕" pitchFamily="34" charset="0"/>
                <a:ea typeface="맑은 고딕" pitchFamily="34" charset="-122"/>
                <a:cs typeface="맑은 고딕" pitchFamily="34" charset="-120"/>
              </a:rPr>
              <a:t>설명 문장을 만들 때 거치는 검증</a:t>
            </a:r>
            <a:endParaRPr lang="en-US" sz="1400" dirty="0"/>
          </a:p>
        </p:txBody>
      </p:sp>
      <p:sp>
        <p:nvSpPr>
          <p:cNvPr id="6" name="Shape 3"/>
          <p:cNvSpPr/>
          <p:nvPr/>
        </p:nvSpPr>
        <p:spPr>
          <a:xfrm>
            <a:off x="7034786" y="2340864"/>
            <a:ext cx="4596382" cy="749808"/>
          </a:xfrm>
          <a:prstGeom prst="roundRect">
            <a:avLst>
              <a:gd name="adj" fmla="val 7317"/>
            </a:avLst>
          </a:prstGeom>
          <a:solidFill>
            <a:srgbClr val="FFFFFF"/>
          </a:solidFill>
          <a:ln w="12700">
            <a:solidFill>
              <a:srgbClr val="DDE4E6"/>
            </a:solidFill>
            <a:prstDash val="solid"/>
          </a:ln>
        </p:spPr>
        <p:txBody>
          <a:bodyPr/>
          <a:lstStyle/>
          <a:p>
            <a:endParaRPr lang="ko-KR" altLang="en-US"/>
          </a:p>
        </p:txBody>
      </p:sp>
      <p:sp>
        <p:nvSpPr>
          <p:cNvPr id="7" name="Text 4"/>
          <p:cNvSpPr/>
          <p:nvPr/>
        </p:nvSpPr>
        <p:spPr>
          <a:xfrm>
            <a:off x="7260465" y="2340864"/>
            <a:ext cx="402336" cy="749808"/>
          </a:xfrm>
          <a:prstGeom prst="rect">
            <a:avLst/>
          </a:prstGeom>
          <a:noFill/>
          <a:ln/>
        </p:spPr>
        <p:txBody>
          <a:bodyPr wrap="square" lIns="0" tIns="0" rIns="0" bIns="0" rtlCol="0" anchor="ctr"/>
          <a:lstStyle/>
          <a:p>
            <a:pPr marL="0" indent="0">
              <a:buNone/>
            </a:pPr>
            <a:r>
              <a:rPr lang="en-US" sz="1700" b="1" dirty="0">
                <a:solidFill>
                  <a:srgbClr val="0891B2"/>
                </a:solidFill>
                <a:latin typeface="맑은 고딕" pitchFamily="34" charset="0"/>
                <a:ea typeface="맑은 고딕" pitchFamily="34" charset="-122"/>
                <a:cs typeface="맑은 고딕" pitchFamily="34" charset="-120"/>
              </a:rPr>
              <a:t>1</a:t>
            </a:r>
            <a:endParaRPr lang="en-US" sz="1700" dirty="0"/>
          </a:p>
        </p:txBody>
      </p:sp>
      <p:sp>
        <p:nvSpPr>
          <p:cNvPr id="8" name="Text 5"/>
          <p:cNvSpPr/>
          <p:nvPr/>
        </p:nvSpPr>
        <p:spPr>
          <a:xfrm>
            <a:off x="7617806" y="2340864"/>
            <a:ext cx="2257713" cy="749808"/>
          </a:xfrm>
          <a:prstGeom prst="rect">
            <a:avLst/>
          </a:prstGeom>
          <a:noFill/>
          <a:ln/>
        </p:spPr>
        <p:txBody>
          <a:bodyPr wrap="square" lIns="0" tIns="0" rIns="0" bIns="0" rtlCol="0" anchor="ctr"/>
          <a:lstStyle/>
          <a:p>
            <a:pPr marL="0" indent="0">
              <a:buNone/>
            </a:pPr>
            <a:r>
              <a:rPr lang="en-US" sz="2000" b="1" dirty="0">
                <a:solidFill>
                  <a:srgbClr val="14181A"/>
                </a:solidFill>
                <a:latin typeface="맑은 고딕" pitchFamily="34" charset="0"/>
                <a:ea typeface="맑은 고딕" pitchFamily="34" charset="-122"/>
                <a:cs typeface="맑은 고딕" pitchFamily="34" charset="-120"/>
              </a:rPr>
              <a:t>판정 결과 정리</a:t>
            </a:r>
            <a:endParaRPr lang="en-US" sz="2000" dirty="0"/>
          </a:p>
        </p:txBody>
      </p:sp>
      <p:sp>
        <p:nvSpPr>
          <p:cNvPr id="9" name="Shape 6"/>
          <p:cNvSpPr/>
          <p:nvPr/>
        </p:nvSpPr>
        <p:spPr>
          <a:xfrm>
            <a:off x="10076688" y="2523744"/>
            <a:ext cx="1225296" cy="384048"/>
          </a:xfrm>
          <a:prstGeom prst="roundRect">
            <a:avLst>
              <a:gd name="adj" fmla="val 50000"/>
            </a:avLst>
          </a:prstGeom>
          <a:solidFill>
            <a:srgbClr val="F1F4F5"/>
          </a:solidFill>
          <a:ln w="12700">
            <a:solidFill>
              <a:srgbClr val="B9C4C7"/>
            </a:solidFill>
            <a:prstDash val="solid"/>
          </a:ln>
        </p:spPr>
        <p:txBody>
          <a:bodyPr/>
          <a:lstStyle/>
          <a:p>
            <a:endParaRPr lang="ko-KR" altLang="en-US"/>
          </a:p>
        </p:txBody>
      </p:sp>
      <p:sp>
        <p:nvSpPr>
          <p:cNvPr id="10" name="Text 7"/>
          <p:cNvSpPr/>
          <p:nvPr/>
        </p:nvSpPr>
        <p:spPr>
          <a:xfrm>
            <a:off x="10076688" y="2523744"/>
            <a:ext cx="1225296" cy="384048"/>
          </a:xfrm>
          <a:prstGeom prst="rect">
            <a:avLst/>
          </a:prstGeom>
          <a:noFill/>
          <a:ln/>
        </p:spPr>
        <p:txBody>
          <a:bodyPr wrap="square" lIns="0" tIns="0" rIns="0" bIns="0" rtlCol="0" anchor="ctr"/>
          <a:lstStyle/>
          <a:p>
            <a:pPr marL="0" indent="0" algn="ctr">
              <a:buNone/>
            </a:pPr>
            <a:r>
              <a:rPr lang="en-US" sz="1400" b="1" dirty="0">
                <a:solidFill>
                  <a:srgbClr val="55636A"/>
                </a:solidFill>
                <a:latin typeface="맑은 고딕" pitchFamily="34" charset="0"/>
                <a:ea typeface="맑은 고딕" pitchFamily="34" charset="-122"/>
                <a:cs typeface="맑은 고딕" pitchFamily="34" charset="-120"/>
              </a:rPr>
              <a:t>규칙</a:t>
            </a:r>
            <a:endParaRPr lang="en-US" sz="1400" dirty="0"/>
          </a:p>
        </p:txBody>
      </p:sp>
      <p:sp>
        <p:nvSpPr>
          <p:cNvPr id="11" name="Shape 8"/>
          <p:cNvSpPr/>
          <p:nvPr/>
        </p:nvSpPr>
        <p:spPr>
          <a:xfrm>
            <a:off x="7034786" y="3209544"/>
            <a:ext cx="4596382" cy="749808"/>
          </a:xfrm>
          <a:prstGeom prst="roundRect">
            <a:avLst>
              <a:gd name="adj" fmla="val 7317"/>
            </a:avLst>
          </a:prstGeom>
          <a:solidFill>
            <a:srgbClr val="FFFFFF"/>
          </a:solidFill>
          <a:ln w="12700">
            <a:solidFill>
              <a:srgbClr val="DDE4E6"/>
            </a:solidFill>
            <a:prstDash val="solid"/>
          </a:ln>
        </p:spPr>
        <p:txBody>
          <a:bodyPr/>
          <a:lstStyle/>
          <a:p>
            <a:endParaRPr lang="ko-KR" altLang="en-US"/>
          </a:p>
        </p:txBody>
      </p:sp>
      <p:sp>
        <p:nvSpPr>
          <p:cNvPr id="12" name="Text 9"/>
          <p:cNvSpPr/>
          <p:nvPr/>
        </p:nvSpPr>
        <p:spPr>
          <a:xfrm>
            <a:off x="7260465" y="3209544"/>
            <a:ext cx="402336" cy="749808"/>
          </a:xfrm>
          <a:prstGeom prst="rect">
            <a:avLst/>
          </a:prstGeom>
          <a:noFill/>
          <a:ln/>
        </p:spPr>
        <p:txBody>
          <a:bodyPr wrap="square" lIns="0" tIns="0" rIns="0" bIns="0" rtlCol="0" anchor="ctr"/>
          <a:lstStyle/>
          <a:p>
            <a:pPr marL="0" indent="0">
              <a:buNone/>
            </a:pPr>
            <a:r>
              <a:rPr lang="en-US" sz="1700" b="1" dirty="0">
                <a:solidFill>
                  <a:srgbClr val="0891B2"/>
                </a:solidFill>
                <a:latin typeface="맑은 고딕" pitchFamily="34" charset="0"/>
                <a:ea typeface="맑은 고딕" pitchFamily="34" charset="-122"/>
                <a:cs typeface="맑은 고딕" pitchFamily="34" charset="-120"/>
              </a:rPr>
              <a:t>2</a:t>
            </a:r>
            <a:endParaRPr lang="en-US" sz="1700" dirty="0"/>
          </a:p>
        </p:txBody>
      </p:sp>
      <p:sp>
        <p:nvSpPr>
          <p:cNvPr id="13" name="Text 10"/>
          <p:cNvSpPr/>
          <p:nvPr/>
        </p:nvSpPr>
        <p:spPr>
          <a:xfrm>
            <a:off x="7617806" y="3209544"/>
            <a:ext cx="2257713" cy="749808"/>
          </a:xfrm>
          <a:prstGeom prst="rect">
            <a:avLst/>
          </a:prstGeom>
          <a:noFill/>
          <a:ln/>
        </p:spPr>
        <p:txBody>
          <a:bodyPr wrap="square" lIns="0" tIns="0" rIns="0" bIns="0" rtlCol="0" anchor="ctr"/>
          <a:lstStyle/>
          <a:p>
            <a:pPr marL="0" indent="0">
              <a:buNone/>
            </a:pPr>
            <a:r>
              <a:rPr lang="en-US" sz="2000" b="1" dirty="0">
                <a:solidFill>
                  <a:srgbClr val="14181A"/>
                </a:solidFill>
                <a:latin typeface="맑은 고딕" pitchFamily="34" charset="0"/>
                <a:ea typeface="맑은 고딕" pitchFamily="34" charset="-122"/>
                <a:cs typeface="맑은 고딕" pitchFamily="34" charset="-120"/>
              </a:rPr>
              <a:t>설명 규칙 적용</a:t>
            </a:r>
            <a:endParaRPr lang="en-US" sz="2000" dirty="0"/>
          </a:p>
        </p:txBody>
      </p:sp>
      <p:sp>
        <p:nvSpPr>
          <p:cNvPr id="14" name="Shape 11"/>
          <p:cNvSpPr/>
          <p:nvPr/>
        </p:nvSpPr>
        <p:spPr>
          <a:xfrm>
            <a:off x="10076688" y="3392424"/>
            <a:ext cx="1225296" cy="384048"/>
          </a:xfrm>
          <a:prstGeom prst="roundRect">
            <a:avLst>
              <a:gd name="adj" fmla="val 50000"/>
            </a:avLst>
          </a:prstGeom>
          <a:solidFill>
            <a:srgbClr val="F1F4F5"/>
          </a:solidFill>
          <a:ln w="12700">
            <a:solidFill>
              <a:srgbClr val="B9C4C7"/>
            </a:solidFill>
            <a:prstDash val="solid"/>
          </a:ln>
        </p:spPr>
        <p:txBody>
          <a:bodyPr/>
          <a:lstStyle/>
          <a:p>
            <a:endParaRPr lang="ko-KR" altLang="en-US"/>
          </a:p>
        </p:txBody>
      </p:sp>
      <p:sp>
        <p:nvSpPr>
          <p:cNvPr id="15" name="Text 12"/>
          <p:cNvSpPr/>
          <p:nvPr/>
        </p:nvSpPr>
        <p:spPr>
          <a:xfrm>
            <a:off x="10076688" y="3392424"/>
            <a:ext cx="1225296" cy="384048"/>
          </a:xfrm>
          <a:prstGeom prst="rect">
            <a:avLst/>
          </a:prstGeom>
          <a:noFill/>
          <a:ln/>
        </p:spPr>
        <p:txBody>
          <a:bodyPr wrap="square" lIns="0" tIns="0" rIns="0" bIns="0" rtlCol="0" anchor="ctr"/>
          <a:lstStyle/>
          <a:p>
            <a:pPr marL="0" indent="0" algn="ctr">
              <a:buNone/>
            </a:pPr>
            <a:r>
              <a:rPr lang="en-US" sz="1400" b="1" dirty="0">
                <a:solidFill>
                  <a:srgbClr val="55636A"/>
                </a:solidFill>
                <a:latin typeface="맑은 고딕" pitchFamily="34" charset="0"/>
                <a:ea typeface="맑은 고딕" pitchFamily="34" charset="-122"/>
                <a:cs typeface="맑은 고딕" pitchFamily="34" charset="-120"/>
              </a:rPr>
              <a:t>규칙</a:t>
            </a:r>
            <a:endParaRPr lang="en-US" sz="1400" dirty="0"/>
          </a:p>
        </p:txBody>
      </p:sp>
      <p:sp>
        <p:nvSpPr>
          <p:cNvPr id="16" name="Shape 13"/>
          <p:cNvSpPr/>
          <p:nvPr/>
        </p:nvSpPr>
        <p:spPr>
          <a:xfrm>
            <a:off x="7034786" y="4078224"/>
            <a:ext cx="4596382" cy="749808"/>
          </a:xfrm>
          <a:prstGeom prst="roundRect">
            <a:avLst>
              <a:gd name="adj" fmla="val 7317"/>
            </a:avLst>
          </a:prstGeom>
          <a:solidFill>
            <a:srgbClr val="FFFFFF"/>
          </a:solidFill>
          <a:ln w="12700">
            <a:solidFill>
              <a:srgbClr val="DDE4E6"/>
            </a:solidFill>
            <a:prstDash val="solid"/>
          </a:ln>
        </p:spPr>
        <p:txBody>
          <a:bodyPr/>
          <a:lstStyle/>
          <a:p>
            <a:endParaRPr lang="ko-KR" altLang="en-US"/>
          </a:p>
        </p:txBody>
      </p:sp>
      <p:sp>
        <p:nvSpPr>
          <p:cNvPr id="17" name="Text 14"/>
          <p:cNvSpPr/>
          <p:nvPr/>
        </p:nvSpPr>
        <p:spPr>
          <a:xfrm>
            <a:off x="7260465" y="4078224"/>
            <a:ext cx="402336" cy="749808"/>
          </a:xfrm>
          <a:prstGeom prst="rect">
            <a:avLst/>
          </a:prstGeom>
          <a:noFill/>
          <a:ln/>
        </p:spPr>
        <p:txBody>
          <a:bodyPr wrap="square" lIns="0" tIns="0" rIns="0" bIns="0" rtlCol="0" anchor="ctr"/>
          <a:lstStyle/>
          <a:p>
            <a:pPr marL="0" indent="0">
              <a:buNone/>
            </a:pPr>
            <a:r>
              <a:rPr lang="en-US" sz="1700" b="1" dirty="0">
                <a:solidFill>
                  <a:srgbClr val="0891B2"/>
                </a:solidFill>
                <a:latin typeface="맑은 고딕" pitchFamily="34" charset="0"/>
                <a:ea typeface="맑은 고딕" pitchFamily="34" charset="-122"/>
                <a:cs typeface="맑은 고딕" pitchFamily="34" charset="-120"/>
              </a:rPr>
              <a:t>3</a:t>
            </a:r>
            <a:endParaRPr lang="en-US" sz="1700" dirty="0"/>
          </a:p>
        </p:txBody>
      </p:sp>
      <p:sp>
        <p:nvSpPr>
          <p:cNvPr id="18" name="Text 15"/>
          <p:cNvSpPr/>
          <p:nvPr/>
        </p:nvSpPr>
        <p:spPr>
          <a:xfrm>
            <a:off x="7617806" y="4078224"/>
            <a:ext cx="2257713" cy="749808"/>
          </a:xfrm>
          <a:prstGeom prst="rect">
            <a:avLst/>
          </a:prstGeom>
          <a:noFill/>
          <a:ln/>
        </p:spPr>
        <p:txBody>
          <a:bodyPr wrap="square" lIns="0" tIns="0" rIns="0" bIns="0" rtlCol="0" anchor="ctr"/>
          <a:lstStyle/>
          <a:p>
            <a:pPr marL="0" indent="0">
              <a:buNone/>
            </a:pPr>
            <a:r>
              <a:rPr lang="en-US" sz="2000" b="1" dirty="0">
                <a:solidFill>
                  <a:srgbClr val="14181A"/>
                </a:solidFill>
                <a:latin typeface="맑은 고딕" pitchFamily="34" charset="0"/>
                <a:ea typeface="맑은 고딕" pitchFamily="34" charset="-122"/>
                <a:cs typeface="맑은 고딕" pitchFamily="34" charset="-120"/>
              </a:rPr>
              <a:t>설명 생성</a:t>
            </a:r>
            <a:endParaRPr lang="en-US" sz="2000" dirty="0"/>
          </a:p>
        </p:txBody>
      </p:sp>
      <p:sp>
        <p:nvSpPr>
          <p:cNvPr id="19" name="Shape 16"/>
          <p:cNvSpPr/>
          <p:nvPr/>
        </p:nvSpPr>
        <p:spPr>
          <a:xfrm>
            <a:off x="10076688" y="4261104"/>
            <a:ext cx="1225296" cy="384048"/>
          </a:xfrm>
          <a:prstGeom prst="roundRect">
            <a:avLst>
              <a:gd name="adj" fmla="val 50000"/>
            </a:avLst>
          </a:prstGeom>
          <a:solidFill>
            <a:srgbClr val="0891B2"/>
          </a:solidFill>
          <a:ln w="12700">
            <a:solidFill>
              <a:srgbClr val="0891B2"/>
            </a:solidFill>
            <a:prstDash val="solid"/>
          </a:ln>
        </p:spPr>
        <p:txBody>
          <a:bodyPr/>
          <a:lstStyle/>
          <a:p>
            <a:endParaRPr lang="ko-KR" altLang="en-US"/>
          </a:p>
        </p:txBody>
      </p:sp>
      <p:sp>
        <p:nvSpPr>
          <p:cNvPr id="20" name="Text 17"/>
          <p:cNvSpPr/>
          <p:nvPr/>
        </p:nvSpPr>
        <p:spPr>
          <a:xfrm>
            <a:off x="10076688" y="4261104"/>
            <a:ext cx="1225296"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AI</a:t>
            </a:r>
            <a:endParaRPr lang="en-US" sz="1400" dirty="0"/>
          </a:p>
        </p:txBody>
      </p:sp>
      <p:sp>
        <p:nvSpPr>
          <p:cNvPr id="21" name="Shape 18"/>
          <p:cNvSpPr/>
          <p:nvPr/>
        </p:nvSpPr>
        <p:spPr>
          <a:xfrm>
            <a:off x="7034786" y="4946904"/>
            <a:ext cx="4596382" cy="749808"/>
          </a:xfrm>
          <a:prstGeom prst="roundRect">
            <a:avLst>
              <a:gd name="adj" fmla="val 7317"/>
            </a:avLst>
          </a:prstGeom>
          <a:solidFill>
            <a:srgbClr val="FFFFFF"/>
          </a:solidFill>
          <a:ln w="12700">
            <a:solidFill>
              <a:srgbClr val="DDE4E6"/>
            </a:solidFill>
            <a:prstDash val="solid"/>
          </a:ln>
        </p:spPr>
        <p:txBody>
          <a:bodyPr/>
          <a:lstStyle/>
          <a:p>
            <a:endParaRPr lang="ko-KR" altLang="en-US"/>
          </a:p>
        </p:txBody>
      </p:sp>
      <p:sp>
        <p:nvSpPr>
          <p:cNvPr id="22" name="Text 19"/>
          <p:cNvSpPr/>
          <p:nvPr/>
        </p:nvSpPr>
        <p:spPr>
          <a:xfrm>
            <a:off x="7260465" y="4946904"/>
            <a:ext cx="402336" cy="749808"/>
          </a:xfrm>
          <a:prstGeom prst="rect">
            <a:avLst/>
          </a:prstGeom>
          <a:noFill/>
          <a:ln/>
        </p:spPr>
        <p:txBody>
          <a:bodyPr wrap="square" lIns="0" tIns="0" rIns="0" bIns="0" rtlCol="0" anchor="ctr"/>
          <a:lstStyle/>
          <a:p>
            <a:pPr marL="0" indent="0">
              <a:buNone/>
            </a:pPr>
            <a:r>
              <a:rPr lang="en-US" sz="1700" b="1" dirty="0">
                <a:solidFill>
                  <a:srgbClr val="0891B2"/>
                </a:solidFill>
                <a:latin typeface="맑은 고딕" pitchFamily="34" charset="0"/>
                <a:ea typeface="맑은 고딕" pitchFamily="34" charset="-122"/>
                <a:cs typeface="맑은 고딕" pitchFamily="34" charset="-120"/>
              </a:rPr>
              <a:t>4</a:t>
            </a:r>
            <a:endParaRPr lang="en-US" sz="1700" dirty="0"/>
          </a:p>
        </p:txBody>
      </p:sp>
      <p:sp>
        <p:nvSpPr>
          <p:cNvPr id="23" name="Text 20"/>
          <p:cNvSpPr/>
          <p:nvPr/>
        </p:nvSpPr>
        <p:spPr>
          <a:xfrm>
            <a:off x="7617806" y="4946904"/>
            <a:ext cx="2257713" cy="749808"/>
          </a:xfrm>
          <a:prstGeom prst="rect">
            <a:avLst/>
          </a:prstGeom>
          <a:noFill/>
          <a:ln/>
        </p:spPr>
        <p:txBody>
          <a:bodyPr wrap="square" lIns="0" tIns="0" rIns="0" bIns="0" rtlCol="0" anchor="ctr"/>
          <a:lstStyle/>
          <a:p>
            <a:pPr marL="0" indent="0">
              <a:buNone/>
            </a:pPr>
            <a:r>
              <a:rPr lang="en-US" sz="2000" b="1" dirty="0">
                <a:solidFill>
                  <a:srgbClr val="14181A"/>
                </a:solidFill>
                <a:latin typeface="맑은 고딕" pitchFamily="34" charset="0"/>
                <a:ea typeface="맑은 고딕" pitchFamily="34" charset="-122"/>
                <a:cs typeface="맑은 고딕" pitchFamily="34" charset="-120"/>
              </a:rPr>
              <a:t>문장 검사</a:t>
            </a:r>
            <a:endParaRPr lang="en-US" sz="2000" dirty="0"/>
          </a:p>
        </p:txBody>
      </p:sp>
      <p:sp>
        <p:nvSpPr>
          <p:cNvPr id="24" name="Shape 21"/>
          <p:cNvSpPr/>
          <p:nvPr/>
        </p:nvSpPr>
        <p:spPr>
          <a:xfrm>
            <a:off x="10076688" y="5129784"/>
            <a:ext cx="1225296" cy="384048"/>
          </a:xfrm>
          <a:prstGeom prst="roundRect">
            <a:avLst>
              <a:gd name="adj" fmla="val 50000"/>
            </a:avLst>
          </a:prstGeom>
          <a:solidFill>
            <a:srgbClr val="F1F4F5"/>
          </a:solidFill>
          <a:ln w="12700">
            <a:solidFill>
              <a:srgbClr val="B9C4C7"/>
            </a:solidFill>
            <a:prstDash val="solid"/>
          </a:ln>
        </p:spPr>
        <p:txBody>
          <a:bodyPr/>
          <a:lstStyle/>
          <a:p>
            <a:endParaRPr lang="ko-KR" altLang="en-US"/>
          </a:p>
        </p:txBody>
      </p:sp>
      <p:sp>
        <p:nvSpPr>
          <p:cNvPr id="25" name="Text 22"/>
          <p:cNvSpPr/>
          <p:nvPr/>
        </p:nvSpPr>
        <p:spPr>
          <a:xfrm>
            <a:off x="10076688" y="5129784"/>
            <a:ext cx="1225296" cy="384048"/>
          </a:xfrm>
          <a:prstGeom prst="rect">
            <a:avLst/>
          </a:prstGeom>
          <a:noFill/>
          <a:ln/>
        </p:spPr>
        <p:txBody>
          <a:bodyPr wrap="square" lIns="0" tIns="0" rIns="0" bIns="0" rtlCol="0" anchor="ctr"/>
          <a:lstStyle/>
          <a:p>
            <a:pPr marL="0" indent="0" algn="ctr">
              <a:buNone/>
            </a:pPr>
            <a:r>
              <a:rPr lang="en-US" sz="1400" b="1" dirty="0">
                <a:solidFill>
                  <a:srgbClr val="55636A"/>
                </a:solidFill>
                <a:latin typeface="맑은 고딕" pitchFamily="34" charset="0"/>
                <a:ea typeface="맑은 고딕" pitchFamily="34" charset="-122"/>
                <a:cs typeface="맑은 고딕" pitchFamily="34" charset="-120"/>
              </a:rPr>
              <a:t>규칙</a:t>
            </a:r>
            <a:endParaRPr lang="en-US" sz="1400" dirty="0"/>
          </a:p>
        </p:txBody>
      </p:sp>
      <p:sp>
        <p:nvSpPr>
          <p:cNvPr id="26" name="Shape 23"/>
          <p:cNvSpPr/>
          <p:nvPr/>
        </p:nvSpPr>
        <p:spPr>
          <a:xfrm>
            <a:off x="7034786" y="5815584"/>
            <a:ext cx="4596382" cy="749808"/>
          </a:xfrm>
          <a:prstGeom prst="roundRect">
            <a:avLst>
              <a:gd name="adj" fmla="val 7317"/>
            </a:avLst>
          </a:prstGeom>
          <a:solidFill>
            <a:srgbClr val="FFFFFF"/>
          </a:solidFill>
          <a:ln w="12700">
            <a:solidFill>
              <a:srgbClr val="DDE4E6"/>
            </a:solidFill>
            <a:prstDash val="solid"/>
          </a:ln>
        </p:spPr>
        <p:txBody>
          <a:bodyPr/>
          <a:lstStyle/>
          <a:p>
            <a:endParaRPr lang="ko-KR" altLang="en-US"/>
          </a:p>
        </p:txBody>
      </p:sp>
      <p:sp>
        <p:nvSpPr>
          <p:cNvPr id="27" name="Text 24"/>
          <p:cNvSpPr/>
          <p:nvPr/>
        </p:nvSpPr>
        <p:spPr>
          <a:xfrm>
            <a:off x="7260465" y="5815584"/>
            <a:ext cx="402336" cy="749808"/>
          </a:xfrm>
          <a:prstGeom prst="rect">
            <a:avLst/>
          </a:prstGeom>
          <a:noFill/>
          <a:ln/>
        </p:spPr>
        <p:txBody>
          <a:bodyPr wrap="square" lIns="0" tIns="0" rIns="0" bIns="0" rtlCol="0" anchor="ctr"/>
          <a:lstStyle/>
          <a:p>
            <a:pPr marL="0" indent="0">
              <a:buNone/>
            </a:pPr>
            <a:r>
              <a:rPr lang="en-US" sz="1700" b="1" dirty="0">
                <a:solidFill>
                  <a:srgbClr val="0891B2"/>
                </a:solidFill>
                <a:latin typeface="맑은 고딕" pitchFamily="34" charset="0"/>
                <a:ea typeface="맑은 고딕" pitchFamily="34" charset="-122"/>
                <a:cs typeface="맑은 고딕" pitchFamily="34" charset="-120"/>
              </a:rPr>
              <a:t>5</a:t>
            </a:r>
            <a:endParaRPr lang="en-US" sz="1700" dirty="0"/>
          </a:p>
        </p:txBody>
      </p:sp>
      <p:sp>
        <p:nvSpPr>
          <p:cNvPr id="28" name="Text 25"/>
          <p:cNvSpPr/>
          <p:nvPr/>
        </p:nvSpPr>
        <p:spPr>
          <a:xfrm>
            <a:off x="7617806" y="5815584"/>
            <a:ext cx="2257713" cy="749808"/>
          </a:xfrm>
          <a:prstGeom prst="rect">
            <a:avLst/>
          </a:prstGeom>
          <a:noFill/>
          <a:ln/>
        </p:spPr>
        <p:txBody>
          <a:bodyPr wrap="square" lIns="0" tIns="0" rIns="0" bIns="0" rtlCol="0" anchor="ctr"/>
          <a:lstStyle/>
          <a:p>
            <a:pPr marL="0" indent="0">
              <a:buNone/>
            </a:pPr>
            <a:r>
              <a:rPr lang="en-US" sz="2000" b="1" dirty="0">
                <a:solidFill>
                  <a:srgbClr val="14181A"/>
                </a:solidFill>
                <a:latin typeface="맑은 고딕" pitchFamily="34" charset="0"/>
                <a:ea typeface="맑은 고딕" pitchFamily="34" charset="-122"/>
                <a:cs typeface="맑은 고딕" pitchFamily="34" charset="-120"/>
              </a:rPr>
              <a:t>화면 전달</a:t>
            </a:r>
            <a:endParaRPr lang="en-US" sz="2000" dirty="0"/>
          </a:p>
        </p:txBody>
      </p:sp>
      <p:sp>
        <p:nvSpPr>
          <p:cNvPr id="29" name="Shape 26"/>
          <p:cNvSpPr/>
          <p:nvPr/>
        </p:nvSpPr>
        <p:spPr>
          <a:xfrm>
            <a:off x="10076688" y="5998464"/>
            <a:ext cx="1225296" cy="384048"/>
          </a:xfrm>
          <a:prstGeom prst="roundRect">
            <a:avLst>
              <a:gd name="adj" fmla="val 50000"/>
            </a:avLst>
          </a:prstGeom>
          <a:solidFill>
            <a:srgbClr val="F1F4F5"/>
          </a:solidFill>
          <a:ln w="12700">
            <a:solidFill>
              <a:srgbClr val="B9C4C7"/>
            </a:solidFill>
            <a:prstDash val="solid"/>
          </a:ln>
        </p:spPr>
        <p:txBody>
          <a:bodyPr/>
          <a:lstStyle/>
          <a:p>
            <a:endParaRPr lang="ko-KR" altLang="en-US"/>
          </a:p>
        </p:txBody>
      </p:sp>
      <p:sp>
        <p:nvSpPr>
          <p:cNvPr id="30" name="Text 27"/>
          <p:cNvSpPr/>
          <p:nvPr/>
        </p:nvSpPr>
        <p:spPr>
          <a:xfrm>
            <a:off x="10076688" y="5998464"/>
            <a:ext cx="1225296" cy="384048"/>
          </a:xfrm>
          <a:prstGeom prst="rect">
            <a:avLst/>
          </a:prstGeom>
          <a:noFill/>
          <a:ln/>
        </p:spPr>
        <p:txBody>
          <a:bodyPr wrap="square" lIns="0" tIns="0" rIns="0" bIns="0" rtlCol="0" anchor="ctr"/>
          <a:lstStyle/>
          <a:p>
            <a:pPr marL="0" indent="0" algn="ctr">
              <a:buNone/>
            </a:pPr>
            <a:r>
              <a:rPr lang="en-US" sz="1400" b="1" dirty="0">
                <a:solidFill>
                  <a:srgbClr val="55636A"/>
                </a:solidFill>
                <a:latin typeface="맑은 고딕" pitchFamily="34" charset="0"/>
                <a:ea typeface="맑은 고딕" pitchFamily="34" charset="-122"/>
                <a:cs typeface="맑은 고딕" pitchFamily="34" charset="-120"/>
              </a:rPr>
              <a:t>규칙</a:t>
            </a:r>
            <a:endParaRPr lang="en-US" sz="1400" dirty="0"/>
          </a:p>
        </p:txBody>
      </p:sp>
      <p:sp>
        <p:nvSpPr>
          <p:cNvPr id="31" name="Text 28"/>
          <p:cNvSpPr/>
          <p:nvPr/>
        </p:nvSpPr>
        <p:spPr>
          <a:xfrm>
            <a:off x="10984687" y="6291072"/>
            <a:ext cx="640080" cy="274320"/>
          </a:xfrm>
          <a:prstGeom prst="rect">
            <a:avLst/>
          </a:prstGeom>
          <a:noFill/>
          <a:ln/>
        </p:spPr>
        <p:txBody>
          <a:bodyPr wrap="square" lIns="0" tIns="0" rIns="0" bIns="0" rtlCol="0" anchor="ctr"/>
          <a:lstStyle/>
          <a:p>
            <a:pPr marL="0" indent="0" algn="r">
              <a:buNone/>
            </a:pPr>
            <a:r>
              <a:rPr lang="en-US" sz="1100" b="1" dirty="0">
                <a:solidFill>
                  <a:srgbClr val="B9C4C7"/>
                </a:solidFill>
                <a:latin typeface="맑은 고딕" pitchFamily="34" charset="0"/>
                <a:ea typeface="맑은 고딕" pitchFamily="34" charset="-122"/>
                <a:cs typeface="맑은 고딕"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9FA"/>
        </a:solidFill>
        <a:effectLst/>
      </p:bgPr>
    </p:bg>
    <p:spTree>
      <p:nvGrpSpPr>
        <p:cNvPr id="1" name=""/>
        <p:cNvGrpSpPr/>
        <p:nvPr/>
      </p:nvGrpSpPr>
      <p:grpSpPr>
        <a:xfrm>
          <a:off x="0" y="0"/>
          <a:ext cx="0" cy="0"/>
          <a:chOff x="0" y="0"/>
          <a:chExt cx="0" cy="0"/>
        </a:xfrm>
      </p:grpSpPr>
      <p:sp>
        <p:nvSpPr>
          <p:cNvPr id="2" name="Text 0"/>
          <p:cNvSpPr/>
          <p:nvPr/>
        </p:nvSpPr>
        <p:spPr>
          <a:xfrm>
            <a:off x="8332927" y="384048"/>
            <a:ext cx="3291840" cy="256032"/>
          </a:xfrm>
          <a:prstGeom prst="rect">
            <a:avLst/>
          </a:prstGeom>
          <a:noFill/>
          <a:ln/>
        </p:spPr>
        <p:txBody>
          <a:bodyPr wrap="square" lIns="0" tIns="0" rIns="0" bIns="0" rtlCol="0" anchor="ctr"/>
          <a:lstStyle/>
          <a:p>
            <a:pPr marL="0" indent="0" algn="r">
              <a:buNone/>
            </a:pPr>
            <a:r>
              <a:rPr lang="en-US" sz="1100" b="1" dirty="0">
                <a:solidFill>
                  <a:srgbClr val="0E7490"/>
                </a:solidFill>
                <a:latin typeface="맑은 고딕" pitchFamily="34" charset="0"/>
                <a:ea typeface="맑은 고딕" pitchFamily="34" charset="-122"/>
                <a:cs typeface="맑은 고딕" pitchFamily="34" charset="-120"/>
              </a:rPr>
              <a:t>화면 근거 · 03 상태·기준시각</a:t>
            </a:r>
            <a:endParaRPr lang="en-US" sz="1100" dirty="0"/>
          </a:p>
        </p:txBody>
      </p:sp>
      <p:sp>
        <p:nvSpPr>
          <p:cNvPr id="3" name="Text 1"/>
          <p:cNvSpPr/>
          <p:nvPr/>
        </p:nvSpPr>
        <p:spPr>
          <a:xfrm>
            <a:off x="566928" y="822960"/>
            <a:ext cx="11057839" cy="1234440"/>
          </a:xfrm>
          <a:prstGeom prst="rect">
            <a:avLst/>
          </a:prstGeom>
          <a:noFill/>
          <a:ln/>
        </p:spPr>
        <p:txBody>
          <a:bodyPr wrap="square" lIns="0" tIns="0" rIns="0" bIns="0" rtlCol="0" anchor="t"/>
          <a:lstStyle/>
          <a:p>
            <a:pPr marL="0" indent="0">
              <a:lnSpc>
                <a:spcPct val="118000"/>
              </a:lnSpc>
              <a:buNone/>
            </a:pPr>
            <a:r>
              <a:rPr lang="en-US" sz="2800" b="1" dirty="0">
                <a:solidFill>
                  <a:srgbClr val="14181A"/>
                </a:solidFill>
                <a:latin typeface="맑은 고딕" pitchFamily="34" charset="0"/>
                <a:ea typeface="맑은 고딕" pitchFamily="34" charset="-122"/>
                <a:cs typeface="맑은 고딕" pitchFamily="34" charset="-120"/>
              </a:rPr>
              <a:t>외부 API가 죽어도 판단은 이어지고,</a:t>
            </a:r>
            <a:endParaRPr lang="en-US" sz="2800" dirty="0"/>
          </a:p>
          <a:p>
            <a:pPr marL="0" indent="0">
              <a:lnSpc>
                <a:spcPct val="118000"/>
              </a:lnSpc>
              <a:buNone/>
            </a:pPr>
            <a:r>
              <a:rPr lang="en-US" sz="2800" b="1" dirty="0">
                <a:solidFill>
                  <a:srgbClr val="14181A"/>
                </a:solidFill>
                <a:latin typeface="맑은 고딕" pitchFamily="34" charset="0"/>
                <a:ea typeface="맑은 고딕" pitchFamily="34" charset="-122"/>
                <a:cs typeface="맑은 고딕" pitchFamily="34" charset="-120"/>
              </a:rPr>
              <a:t>소스마다 상태와 기준시각을 따로 남깁니다</a:t>
            </a:r>
            <a:endParaRPr lang="en-US" sz="2800" dirty="0"/>
          </a:p>
        </p:txBody>
      </p:sp>
      <p:sp>
        <p:nvSpPr>
          <p:cNvPr id="4" name="Text 2"/>
          <p:cNvSpPr/>
          <p:nvPr/>
        </p:nvSpPr>
        <p:spPr>
          <a:xfrm>
            <a:off x="566928" y="1938528"/>
            <a:ext cx="4114800" cy="256032"/>
          </a:xfrm>
          <a:prstGeom prst="rect">
            <a:avLst/>
          </a:prstGeom>
          <a:noFill/>
          <a:ln/>
        </p:spPr>
        <p:txBody>
          <a:bodyPr wrap="square" lIns="0" tIns="0" rIns="0" bIns="0" rtlCol="0" anchor="ctr"/>
          <a:lstStyle/>
          <a:p>
            <a:pPr marL="0" indent="0">
              <a:buNone/>
            </a:pPr>
            <a:r>
              <a:rPr lang="en-US" sz="1300" b="1" dirty="0">
                <a:solidFill>
                  <a:srgbClr val="0B5A72"/>
                </a:solidFill>
                <a:latin typeface="맑은 고딕" pitchFamily="34" charset="0"/>
                <a:ea typeface="맑은 고딕" pitchFamily="34" charset="-122"/>
                <a:cs typeface="맑은 고딕" pitchFamily="34" charset="-120"/>
              </a:rPr>
              <a:t>화면에 쓰는 세 가지 표시</a:t>
            </a:r>
            <a:endParaRPr lang="en-US" sz="1300" dirty="0"/>
          </a:p>
        </p:txBody>
      </p:sp>
      <p:sp>
        <p:nvSpPr>
          <p:cNvPr id="5" name="Shape 3"/>
          <p:cNvSpPr/>
          <p:nvPr/>
        </p:nvSpPr>
        <p:spPr>
          <a:xfrm>
            <a:off x="566928" y="2286000"/>
            <a:ext cx="4114800" cy="713232"/>
          </a:xfrm>
          <a:prstGeom prst="roundRect">
            <a:avLst>
              <a:gd name="adj" fmla="val 7692"/>
            </a:avLst>
          </a:prstGeom>
          <a:solidFill>
            <a:srgbClr val="DCECDF"/>
          </a:solidFill>
          <a:ln w="12700">
            <a:solidFill>
              <a:srgbClr val="1C6F37"/>
            </a:solidFill>
            <a:prstDash val="solid"/>
          </a:ln>
        </p:spPr>
        <p:txBody>
          <a:bodyPr/>
          <a:lstStyle/>
          <a:p>
            <a:endParaRPr lang="ko-KR" altLang="en-US"/>
          </a:p>
        </p:txBody>
      </p:sp>
      <p:sp>
        <p:nvSpPr>
          <p:cNvPr id="6" name="Text 4"/>
          <p:cNvSpPr/>
          <p:nvPr/>
        </p:nvSpPr>
        <p:spPr>
          <a:xfrm>
            <a:off x="768096" y="2359152"/>
            <a:ext cx="3749040" cy="274320"/>
          </a:xfrm>
          <a:prstGeom prst="rect">
            <a:avLst/>
          </a:prstGeom>
          <a:noFill/>
          <a:ln/>
        </p:spPr>
        <p:txBody>
          <a:bodyPr wrap="square" lIns="0" tIns="0" rIns="0" bIns="0" rtlCol="0" anchor="ctr"/>
          <a:lstStyle/>
          <a:p>
            <a:pPr marL="0" indent="0">
              <a:buNone/>
            </a:pPr>
            <a:r>
              <a:rPr lang="en-US" sz="1500" b="1" dirty="0">
                <a:solidFill>
                  <a:srgbClr val="1C6F37"/>
                </a:solidFill>
                <a:latin typeface="맑은 고딕" pitchFamily="34" charset="0"/>
                <a:ea typeface="맑은 고딕" pitchFamily="34" charset="-122"/>
                <a:cs typeface="맑은 고딕" pitchFamily="34" charset="-120"/>
              </a:rPr>
              <a:t>실시간 연결</a:t>
            </a:r>
            <a:endParaRPr lang="en-US" sz="1500" dirty="0"/>
          </a:p>
        </p:txBody>
      </p:sp>
      <p:sp>
        <p:nvSpPr>
          <p:cNvPr id="7" name="Text 5"/>
          <p:cNvSpPr/>
          <p:nvPr/>
        </p:nvSpPr>
        <p:spPr>
          <a:xfrm>
            <a:off x="768096" y="2651760"/>
            <a:ext cx="3749040" cy="256032"/>
          </a:xfrm>
          <a:prstGeom prst="rect">
            <a:avLst/>
          </a:prstGeom>
          <a:noFill/>
          <a:ln/>
        </p:spPr>
        <p:txBody>
          <a:bodyPr wrap="square" lIns="0" tIns="0" rIns="0" bIns="0" rtlCol="0" anchor="ctr"/>
          <a:lstStyle/>
          <a:p>
            <a:pPr marL="0" indent="0">
              <a:buNone/>
            </a:pPr>
            <a:r>
              <a:rPr lang="en-US" sz="1200" dirty="0">
                <a:solidFill>
                  <a:srgbClr val="1C6F37"/>
                </a:solidFill>
                <a:latin typeface="맑은 고딕" pitchFamily="34" charset="0"/>
                <a:ea typeface="맑은 고딕" pitchFamily="34" charset="-122"/>
                <a:cs typeface="맑은 고딕" pitchFamily="34" charset="-120"/>
              </a:rPr>
              <a:t>지금 호출해 받은 값</a:t>
            </a:r>
            <a:endParaRPr lang="en-US" sz="1200" dirty="0"/>
          </a:p>
        </p:txBody>
      </p:sp>
      <p:sp>
        <p:nvSpPr>
          <p:cNvPr id="8" name="Shape 6"/>
          <p:cNvSpPr/>
          <p:nvPr/>
        </p:nvSpPr>
        <p:spPr>
          <a:xfrm>
            <a:off x="566928" y="3163824"/>
            <a:ext cx="4114800" cy="713232"/>
          </a:xfrm>
          <a:prstGeom prst="roundRect">
            <a:avLst>
              <a:gd name="adj" fmla="val 7692"/>
            </a:avLst>
          </a:prstGeom>
          <a:solidFill>
            <a:srgbClr val="CFFAFE"/>
          </a:solidFill>
          <a:ln w="12700">
            <a:solidFill>
              <a:srgbClr val="0B5A72"/>
            </a:solidFill>
            <a:prstDash val="solid"/>
          </a:ln>
        </p:spPr>
        <p:txBody>
          <a:bodyPr/>
          <a:lstStyle/>
          <a:p>
            <a:endParaRPr lang="ko-KR" altLang="en-US"/>
          </a:p>
        </p:txBody>
      </p:sp>
      <p:sp>
        <p:nvSpPr>
          <p:cNvPr id="9" name="Text 7"/>
          <p:cNvSpPr/>
          <p:nvPr/>
        </p:nvSpPr>
        <p:spPr>
          <a:xfrm>
            <a:off x="768096" y="3236976"/>
            <a:ext cx="3749040" cy="274320"/>
          </a:xfrm>
          <a:prstGeom prst="rect">
            <a:avLst/>
          </a:prstGeom>
          <a:noFill/>
          <a:ln/>
        </p:spPr>
        <p:txBody>
          <a:bodyPr wrap="square" lIns="0" tIns="0" rIns="0" bIns="0" rtlCol="0" anchor="ctr"/>
          <a:lstStyle/>
          <a:p>
            <a:pPr marL="0" indent="0">
              <a:buNone/>
            </a:pPr>
            <a:r>
              <a:rPr lang="en-US" sz="1500" b="1" dirty="0">
                <a:solidFill>
                  <a:srgbClr val="0B5A72"/>
                </a:solidFill>
                <a:latin typeface="맑은 고딕" pitchFamily="34" charset="0"/>
                <a:ea typeface="맑은 고딕" pitchFamily="34" charset="-122"/>
                <a:cs typeface="맑은 고딕" pitchFamily="34" charset="-120"/>
              </a:rPr>
              <a:t>검증 스냅샷</a:t>
            </a:r>
            <a:endParaRPr lang="en-US" sz="1500" dirty="0"/>
          </a:p>
        </p:txBody>
      </p:sp>
      <p:sp>
        <p:nvSpPr>
          <p:cNvPr id="10" name="Text 8"/>
          <p:cNvSpPr/>
          <p:nvPr/>
        </p:nvSpPr>
        <p:spPr>
          <a:xfrm>
            <a:off x="768096" y="3529584"/>
            <a:ext cx="3749040" cy="256032"/>
          </a:xfrm>
          <a:prstGeom prst="rect">
            <a:avLst/>
          </a:prstGeom>
          <a:noFill/>
          <a:ln/>
        </p:spPr>
        <p:txBody>
          <a:bodyPr wrap="square" lIns="0" tIns="0" rIns="0" bIns="0" rtlCol="0" anchor="ctr"/>
          <a:lstStyle/>
          <a:p>
            <a:pPr marL="0" indent="0">
              <a:buNone/>
            </a:pPr>
            <a:r>
              <a:rPr lang="en-US" sz="1200" dirty="0">
                <a:solidFill>
                  <a:srgbClr val="0B5A72"/>
                </a:solidFill>
                <a:latin typeface="맑은 고딕" pitchFamily="34" charset="0"/>
                <a:ea typeface="맑은 고딕" pitchFamily="34" charset="-122"/>
                <a:cs typeface="맑은 고딕" pitchFamily="34" charset="-120"/>
              </a:rPr>
              <a:t>저장해 둔 실호출 응답</a:t>
            </a:r>
            <a:endParaRPr lang="en-US" sz="1200" dirty="0"/>
          </a:p>
        </p:txBody>
      </p:sp>
      <p:sp>
        <p:nvSpPr>
          <p:cNvPr id="11" name="Shape 9"/>
          <p:cNvSpPr/>
          <p:nvPr/>
        </p:nvSpPr>
        <p:spPr>
          <a:xfrm>
            <a:off x="566928" y="4041648"/>
            <a:ext cx="4114800" cy="713232"/>
          </a:xfrm>
          <a:prstGeom prst="roundRect">
            <a:avLst>
              <a:gd name="adj" fmla="val 7692"/>
            </a:avLst>
          </a:prstGeom>
          <a:solidFill>
            <a:srgbClr val="FBE7AB"/>
          </a:solidFill>
          <a:ln w="12700">
            <a:solidFill>
              <a:srgbClr val="8A5806"/>
            </a:solidFill>
            <a:prstDash val="solid"/>
          </a:ln>
        </p:spPr>
        <p:txBody>
          <a:bodyPr/>
          <a:lstStyle/>
          <a:p>
            <a:endParaRPr lang="ko-KR" altLang="en-US"/>
          </a:p>
        </p:txBody>
      </p:sp>
      <p:sp>
        <p:nvSpPr>
          <p:cNvPr id="12" name="Text 10"/>
          <p:cNvSpPr/>
          <p:nvPr/>
        </p:nvSpPr>
        <p:spPr>
          <a:xfrm>
            <a:off x="768096" y="4114800"/>
            <a:ext cx="3749040" cy="274320"/>
          </a:xfrm>
          <a:prstGeom prst="rect">
            <a:avLst/>
          </a:prstGeom>
          <a:noFill/>
          <a:ln/>
        </p:spPr>
        <p:txBody>
          <a:bodyPr wrap="square" lIns="0" tIns="0" rIns="0" bIns="0" rtlCol="0" anchor="ctr"/>
          <a:lstStyle/>
          <a:p>
            <a:pPr marL="0" indent="0">
              <a:buNone/>
            </a:pPr>
            <a:r>
              <a:rPr lang="en-US" sz="1500" b="1" dirty="0">
                <a:solidFill>
                  <a:srgbClr val="8A5806"/>
                </a:solidFill>
                <a:latin typeface="맑은 고딕" pitchFamily="34" charset="0"/>
                <a:ea typeface="맑은 고딕" pitchFamily="34" charset="-122"/>
                <a:cs typeface="맑은 고딕" pitchFamily="34" charset="-120"/>
              </a:rPr>
              <a:t>시연용 자료</a:t>
            </a:r>
            <a:endParaRPr lang="en-US" sz="1500" dirty="0"/>
          </a:p>
        </p:txBody>
      </p:sp>
      <p:sp>
        <p:nvSpPr>
          <p:cNvPr id="13" name="Text 11"/>
          <p:cNvSpPr/>
          <p:nvPr/>
        </p:nvSpPr>
        <p:spPr>
          <a:xfrm>
            <a:off x="768096" y="4407408"/>
            <a:ext cx="3749040" cy="256032"/>
          </a:xfrm>
          <a:prstGeom prst="rect">
            <a:avLst/>
          </a:prstGeom>
          <a:noFill/>
          <a:ln/>
        </p:spPr>
        <p:txBody>
          <a:bodyPr wrap="square" lIns="0" tIns="0" rIns="0" bIns="0" rtlCol="0" anchor="ctr"/>
          <a:lstStyle/>
          <a:p>
            <a:pPr marL="0" indent="0">
              <a:buNone/>
            </a:pPr>
            <a:r>
              <a:rPr lang="en-US" sz="1200" dirty="0">
                <a:solidFill>
                  <a:srgbClr val="8A5806"/>
                </a:solidFill>
                <a:latin typeface="맑은 고딕" pitchFamily="34" charset="0"/>
                <a:ea typeface="맑은 고딕" pitchFamily="34" charset="-122"/>
                <a:cs typeface="맑은 고딕" pitchFamily="34" charset="-120"/>
              </a:rPr>
              <a:t>실데이터가 아님을 표시</a:t>
            </a:r>
            <a:endParaRPr lang="en-US" sz="1200" dirty="0"/>
          </a:p>
        </p:txBody>
      </p:sp>
      <p:pic>
        <p:nvPicPr>
          <p:cNvPr id="14" name="Image 0" descr="D:/Projects/batboda/발표/캡처/20260805_C04b_상태_기준시각.png"/>
          <p:cNvPicPr>
            <a:picLocks noChangeAspect="1"/>
          </p:cNvPicPr>
          <p:nvPr/>
        </p:nvPicPr>
        <p:blipFill>
          <a:blip r:embed="rId3"/>
          <a:stretch>
            <a:fillRect/>
          </a:stretch>
        </p:blipFill>
        <p:spPr>
          <a:xfrm>
            <a:off x="4901184" y="1956958"/>
            <a:ext cx="3017520" cy="4132804"/>
          </a:xfrm>
          <a:prstGeom prst="rect">
            <a:avLst/>
          </a:prstGeom>
        </p:spPr>
      </p:pic>
      <p:sp>
        <p:nvSpPr>
          <p:cNvPr id="15" name="Shape 12"/>
          <p:cNvSpPr/>
          <p:nvPr/>
        </p:nvSpPr>
        <p:spPr>
          <a:xfrm>
            <a:off x="8101584" y="1938528"/>
            <a:ext cx="3529584" cy="2139696"/>
          </a:xfrm>
          <a:prstGeom prst="roundRect">
            <a:avLst>
              <a:gd name="adj" fmla="val 2564"/>
            </a:avLst>
          </a:prstGeom>
          <a:solidFill>
            <a:srgbClr val="FFFFFF"/>
          </a:solidFill>
          <a:ln w="12700">
            <a:solidFill>
              <a:srgbClr val="DDE4E6"/>
            </a:solidFill>
            <a:prstDash val="solid"/>
          </a:ln>
        </p:spPr>
        <p:txBody>
          <a:bodyPr/>
          <a:lstStyle/>
          <a:p>
            <a:endParaRPr lang="ko-KR" altLang="en-US"/>
          </a:p>
        </p:txBody>
      </p:sp>
      <p:sp>
        <p:nvSpPr>
          <p:cNvPr id="16" name="Text 13"/>
          <p:cNvSpPr/>
          <p:nvPr/>
        </p:nvSpPr>
        <p:spPr>
          <a:xfrm>
            <a:off x="8284464" y="2066544"/>
            <a:ext cx="3163824" cy="914400"/>
          </a:xfrm>
          <a:prstGeom prst="rect">
            <a:avLst/>
          </a:prstGeom>
          <a:noFill/>
          <a:ln/>
        </p:spPr>
        <p:txBody>
          <a:bodyPr wrap="square" lIns="0" tIns="0" rIns="0" bIns="0" rtlCol="0" anchor="t"/>
          <a:lstStyle/>
          <a:p>
            <a:pPr marL="0" indent="0">
              <a:lnSpc>
                <a:spcPct val="120000"/>
              </a:lnSpc>
              <a:buNone/>
            </a:pPr>
            <a:r>
              <a:rPr lang="en-US" sz="1350" b="1" dirty="0">
                <a:solidFill>
                  <a:srgbClr val="14181A"/>
                </a:solidFill>
                <a:latin typeface="맑은 고딕" pitchFamily="34" charset="0"/>
                <a:ea typeface="맑은 고딕" pitchFamily="34" charset="-122"/>
                <a:cs typeface="맑은 고딕" pitchFamily="34" charset="-120"/>
              </a:rPr>
              <a:t>2026-08-03</a:t>
            </a:r>
            <a:endParaRPr lang="en-US" sz="1350" dirty="0"/>
          </a:p>
          <a:p>
            <a:pPr marL="0" indent="0">
              <a:lnSpc>
                <a:spcPct val="120000"/>
              </a:lnSpc>
              <a:buNone/>
            </a:pPr>
            <a:r>
              <a:rPr lang="en-US" sz="1350" b="1" dirty="0">
                <a:solidFill>
                  <a:srgbClr val="14181A"/>
                </a:solidFill>
                <a:latin typeface="맑은 고딕" pitchFamily="34" charset="0"/>
                <a:ea typeface="맑은 고딕" pitchFamily="34" charset="-122"/>
                <a:cs typeface="맑은 고딕" pitchFamily="34" charset="-120"/>
              </a:rPr>
              <a:t>공공데이터 인증이 실제로 막혔습니다</a:t>
            </a:r>
            <a:endParaRPr lang="en-US" sz="1350" dirty="0"/>
          </a:p>
          <a:p>
            <a:pPr marL="0" indent="0">
              <a:lnSpc>
                <a:spcPct val="120000"/>
              </a:lnSpc>
              <a:buNone/>
            </a:pPr>
            <a:r>
              <a:rPr lang="en-US" sz="1350" b="1" dirty="0">
                <a:solidFill>
                  <a:srgbClr val="14181A"/>
                </a:solidFill>
                <a:latin typeface="맑은 고딕" pitchFamily="34" charset="0"/>
                <a:ea typeface="맑은 고딕" pitchFamily="34" charset="-122"/>
                <a:cs typeface="맑은 고딕" pitchFamily="34" charset="-120"/>
              </a:rPr>
              <a:t>(HTTP 401)</a:t>
            </a:r>
            <a:endParaRPr lang="en-US" sz="1350" dirty="0"/>
          </a:p>
        </p:txBody>
      </p:sp>
      <p:sp>
        <p:nvSpPr>
          <p:cNvPr id="17" name="Text 14"/>
          <p:cNvSpPr/>
          <p:nvPr/>
        </p:nvSpPr>
        <p:spPr>
          <a:xfrm>
            <a:off x="8284464" y="3017520"/>
            <a:ext cx="3163824" cy="969264"/>
          </a:xfrm>
          <a:prstGeom prst="rect">
            <a:avLst/>
          </a:prstGeom>
          <a:noFill/>
          <a:ln/>
        </p:spPr>
        <p:txBody>
          <a:bodyPr wrap="square" lIns="0" tIns="0" rIns="0" bIns="0" rtlCol="0" anchor="t"/>
          <a:lstStyle/>
          <a:p>
            <a:pPr marL="0" indent="0">
              <a:lnSpc>
                <a:spcPct val="122000"/>
              </a:lnSpc>
              <a:buNone/>
            </a:pPr>
            <a:r>
              <a:rPr lang="en-US" sz="1200" dirty="0">
                <a:solidFill>
                  <a:srgbClr val="55636A"/>
                </a:solidFill>
                <a:latin typeface="맑은 고딕" pitchFamily="34" charset="0"/>
                <a:ea typeface="맑은 고딕" pitchFamily="34" charset="-122"/>
                <a:cs typeface="맑은 고딕" pitchFamily="34" charset="-120"/>
              </a:rPr>
              <a:t>실패한 소스만 대체하고 이유를</a:t>
            </a:r>
            <a:endParaRPr lang="en-US" sz="1200" dirty="0"/>
          </a:p>
          <a:p>
            <a:pPr marL="0" indent="0">
              <a:lnSpc>
                <a:spcPct val="122000"/>
              </a:lnSpc>
              <a:buNone/>
            </a:pPr>
            <a:r>
              <a:rPr lang="en-US" sz="1200" dirty="0">
                <a:solidFill>
                  <a:srgbClr val="55636A"/>
                </a:solidFill>
                <a:latin typeface="맑은 고딕" pitchFamily="34" charset="0"/>
                <a:ea typeface="맑은 고딕" pitchFamily="34" charset="-122"/>
                <a:cs typeface="맑은 고딕" pitchFamily="34" charset="-120"/>
              </a:rPr>
              <a:t>남기는 경로로 판정까지 이어지는</a:t>
            </a:r>
            <a:endParaRPr lang="en-US" sz="1200" dirty="0"/>
          </a:p>
          <a:p>
            <a:pPr marL="0" indent="0">
              <a:lnSpc>
                <a:spcPct val="122000"/>
              </a:lnSpc>
              <a:buNone/>
            </a:pPr>
            <a:r>
              <a:rPr lang="en-US" sz="1200" dirty="0">
                <a:solidFill>
                  <a:srgbClr val="55636A"/>
                </a:solidFill>
                <a:latin typeface="맑은 고딕" pitchFamily="34" charset="0"/>
                <a:ea typeface="맑은 고딕" pitchFamily="34" charset="-122"/>
                <a:cs typeface="맑은 고딕" pitchFamily="34" charset="-120"/>
              </a:rPr>
              <a:t>것을 그때 확인했습니다.</a:t>
            </a:r>
            <a:endParaRPr lang="en-US" sz="1200" dirty="0"/>
          </a:p>
          <a:p>
            <a:pPr marL="0" indent="0">
              <a:lnSpc>
                <a:spcPct val="122000"/>
              </a:lnSpc>
              <a:buNone/>
            </a:pPr>
            <a:r>
              <a:rPr lang="en-US" sz="1200" dirty="0">
                <a:solidFill>
                  <a:srgbClr val="55636A"/>
                </a:solidFill>
                <a:latin typeface="맑은 고딕" pitchFamily="34" charset="0"/>
                <a:ea typeface="맑은 고딕" pitchFamily="34" charset="-122"/>
                <a:cs typeface="맑은 고딕" pitchFamily="34" charset="-120"/>
              </a:rPr>
              <a:t>가정이 아니라 겪은 일입니다.</a:t>
            </a:r>
            <a:endParaRPr lang="en-US" sz="1200" dirty="0"/>
          </a:p>
        </p:txBody>
      </p:sp>
      <p:sp>
        <p:nvSpPr>
          <p:cNvPr id="18" name="Text 15"/>
          <p:cNvSpPr/>
          <p:nvPr/>
        </p:nvSpPr>
        <p:spPr>
          <a:xfrm>
            <a:off x="8101584" y="4261104"/>
            <a:ext cx="3529584" cy="548640"/>
          </a:xfrm>
          <a:prstGeom prst="rect">
            <a:avLst/>
          </a:prstGeom>
          <a:noFill/>
          <a:ln/>
        </p:spPr>
        <p:txBody>
          <a:bodyPr wrap="square" lIns="0" tIns="0" rIns="0" bIns="0" rtlCol="0" anchor="t"/>
          <a:lstStyle/>
          <a:p>
            <a:pPr marL="0" indent="0">
              <a:lnSpc>
                <a:spcPct val="125000"/>
              </a:lnSpc>
              <a:buNone/>
            </a:pPr>
            <a:r>
              <a:rPr lang="en-US" sz="1350" b="1" dirty="0">
                <a:solidFill>
                  <a:srgbClr val="0B5A72"/>
                </a:solidFill>
                <a:latin typeface="맑은 고딕" pitchFamily="34" charset="0"/>
                <a:ea typeface="맑은 고딕" pitchFamily="34" charset="-122"/>
                <a:cs typeface="맑은 고딕" pitchFamily="34" charset="-120"/>
              </a:rPr>
              <a:t>실패한 소스만 대체하고, 나머지는 실시간을 그대로 씁니다.</a:t>
            </a:r>
            <a:endParaRPr lang="en-US" sz="1350" dirty="0"/>
          </a:p>
        </p:txBody>
      </p:sp>
      <p:sp>
        <p:nvSpPr>
          <p:cNvPr id="19" name="Text 16"/>
          <p:cNvSpPr/>
          <p:nvPr/>
        </p:nvSpPr>
        <p:spPr>
          <a:xfrm>
            <a:off x="10984687" y="6291072"/>
            <a:ext cx="640080" cy="274320"/>
          </a:xfrm>
          <a:prstGeom prst="rect">
            <a:avLst/>
          </a:prstGeom>
          <a:noFill/>
          <a:ln/>
        </p:spPr>
        <p:txBody>
          <a:bodyPr wrap="square" lIns="0" tIns="0" rIns="0" bIns="0" rtlCol="0" anchor="ctr"/>
          <a:lstStyle/>
          <a:p>
            <a:pPr marL="0" indent="0" algn="r">
              <a:buNone/>
            </a:pPr>
            <a:r>
              <a:rPr lang="en-US" sz="1100" b="1" dirty="0">
                <a:solidFill>
                  <a:srgbClr val="B9C4C7"/>
                </a:solidFill>
                <a:latin typeface="맑은 고딕" pitchFamily="34" charset="0"/>
                <a:ea typeface="맑은 고딕" pitchFamily="34" charset="-122"/>
                <a:cs typeface="맑은 고딕" pitchFamily="34" charset="-120"/>
              </a:rPr>
              <a:t>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9FA"/>
        </a:solidFill>
        <a:effectLst/>
      </p:bgPr>
    </p:bg>
    <p:spTree>
      <p:nvGrpSpPr>
        <p:cNvPr id="1" name=""/>
        <p:cNvGrpSpPr/>
        <p:nvPr/>
      </p:nvGrpSpPr>
      <p:grpSpPr>
        <a:xfrm>
          <a:off x="0" y="0"/>
          <a:ext cx="0" cy="0"/>
          <a:chOff x="0" y="0"/>
          <a:chExt cx="0" cy="0"/>
        </a:xfrm>
      </p:grpSpPr>
      <p:sp>
        <p:nvSpPr>
          <p:cNvPr id="2" name="Text 0"/>
          <p:cNvSpPr/>
          <p:nvPr/>
        </p:nvSpPr>
        <p:spPr>
          <a:xfrm>
            <a:off x="8332927" y="384048"/>
            <a:ext cx="3291840" cy="256032"/>
          </a:xfrm>
          <a:prstGeom prst="rect">
            <a:avLst/>
          </a:prstGeom>
          <a:noFill/>
          <a:ln/>
        </p:spPr>
        <p:txBody>
          <a:bodyPr wrap="square" lIns="0" tIns="0" rIns="0" bIns="0" rtlCol="0" anchor="ctr"/>
          <a:lstStyle/>
          <a:p>
            <a:pPr marL="0" indent="0" algn="r">
              <a:buNone/>
            </a:pPr>
            <a:r>
              <a:rPr lang="en-US" sz="1100" b="1" dirty="0">
                <a:solidFill>
                  <a:srgbClr val="0E7490"/>
                </a:solidFill>
                <a:latin typeface="맑은 고딕" pitchFamily="34" charset="0"/>
                <a:ea typeface="맑은 고딕" pitchFamily="34" charset="-122"/>
                <a:cs typeface="맑은 고딕" pitchFamily="34" charset="-120"/>
              </a:rPr>
              <a:t>화면 근거 · 01 내 농지</a:t>
            </a:r>
            <a:endParaRPr lang="en-US" sz="1100" dirty="0"/>
          </a:p>
        </p:txBody>
      </p:sp>
      <p:sp>
        <p:nvSpPr>
          <p:cNvPr id="3" name="Text 1"/>
          <p:cNvSpPr/>
          <p:nvPr/>
        </p:nvSpPr>
        <p:spPr>
          <a:xfrm>
            <a:off x="566928" y="822960"/>
            <a:ext cx="11057839" cy="1234440"/>
          </a:xfrm>
          <a:prstGeom prst="rect">
            <a:avLst/>
          </a:prstGeom>
          <a:noFill/>
          <a:ln/>
        </p:spPr>
        <p:txBody>
          <a:bodyPr wrap="square" lIns="0" tIns="0" rIns="0" bIns="0" rtlCol="0" anchor="t"/>
          <a:lstStyle/>
          <a:p>
            <a:pPr marL="0" indent="0">
              <a:lnSpc>
                <a:spcPct val="118000"/>
              </a:lnSpc>
              <a:buNone/>
            </a:pPr>
            <a:r>
              <a:rPr lang="en-US" sz="2800" b="1" dirty="0">
                <a:solidFill>
                  <a:srgbClr val="14181A"/>
                </a:solidFill>
                <a:latin typeface="맑은 고딕" pitchFamily="34" charset="0"/>
                <a:ea typeface="맑은 고딕" pitchFamily="34" charset="-122"/>
                <a:cs typeface="맑은 고딕" pitchFamily="34" charset="-120"/>
              </a:rPr>
              <a:t>반복 사용은 매일이 아니라, 판단이 필요한 사건마다입니다</a:t>
            </a:r>
            <a:endParaRPr lang="en-US" sz="2800" dirty="0"/>
          </a:p>
        </p:txBody>
      </p:sp>
      <p:sp>
        <p:nvSpPr>
          <p:cNvPr id="4" name="Text 2"/>
          <p:cNvSpPr/>
          <p:nvPr/>
        </p:nvSpPr>
        <p:spPr>
          <a:xfrm>
            <a:off x="566928" y="2212848"/>
            <a:ext cx="329184" cy="329184"/>
          </a:xfrm>
          <a:prstGeom prst="rect">
            <a:avLst/>
          </a:prstGeom>
          <a:noFill/>
          <a:ln/>
        </p:spPr>
        <p:txBody>
          <a:bodyPr wrap="square" lIns="0" tIns="0" rIns="0" bIns="0" rtlCol="0" anchor="ctr"/>
          <a:lstStyle/>
          <a:p>
            <a:pPr marL="0" indent="0">
              <a:buNone/>
            </a:pPr>
            <a:r>
              <a:rPr lang="en-US" sz="1600" b="1" dirty="0">
                <a:solidFill>
                  <a:srgbClr val="0E7490"/>
                </a:solidFill>
                <a:latin typeface="맑은 고딕" pitchFamily="34" charset="0"/>
                <a:ea typeface="맑은 고딕" pitchFamily="34" charset="-122"/>
                <a:cs typeface="맑은 고딕" pitchFamily="34" charset="-120"/>
              </a:rPr>
              <a:t>1</a:t>
            </a:r>
            <a:endParaRPr lang="en-US" sz="1600" dirty="0"/>
          </a:p>
        </p:txBody>
      </p:sp>
      <p:sp>
        <p:nvSpPr>
          <p:cNvPr id="5" name="Text 3"/>
          <p:cNvSpPr/>
          <p:nvPr/>
        </p:nvSpPr>
        <p:spPr>
          <a:xfrm>
            <a:off x="950976" y="2212848"/>
            <a:ext cx="3931920" cy="365760"/>
          </a:xfrm>
          <a:prstGeom prst="rect">
            <a:avLst/>
          </a:prstGeom>
          <a:noFill/>
          <a:ln/>
        </p:spPr>
        <p:txBody>
          <a:bodyPr wrap="square" lIns="0" tIns="0" rIns="0" bIns="0" rtlCol="0" anchor="ctr"/>
          <a:lstStyle/>
          <a:p>
            <a:pPr marL="0" indent="0">
              <a:buNone/>
            </a:pPr>
            <a:r>
              <a:rPr lang="en-US" sz="2800" b="1" dirty="0">
                <a:solidFill>
                  <a:srgbClr val="14181A"/>
                </a:solidFill>
                <a:latin typeface="맑은 고딕" pitchFamily="34" charset="0"/>
                <a:ea typeface="맑은 고딕" pitchFamily="34" charset="-122"/>
                <a:cs typeface="맑은 고딕" pitchFamily="34" charset="-120"/>
              </a:rPr>
              <a:t>농지를 계약하기 전</a:t>
            </a:r>
            <a:endParaRPr lang="en-US" sz="2800" dirty="0"/>
          </a:p>
        </p:txBody>
      </p:sp>
      <p:sp>
        <p:nvSpPr>
          <p:cNvPr id="6" name="Text 4"/>
          <p:cNvSpPr/>
          <p:nvPr/>
        </p:nvSpPr>
        <p:spPr>
          <a:xfrm>
            <a:off x="566928" y="2999232"/>
            <a:ext cx="329184" cy="329184"/>
          </a:xfrm>
          <a:prstGeom prst="rect">
            <a:avLst/>
          </a:prstGeom>
          <a:noFill/>
          <a:ln/>
        </p:spPr>
        <p:txBody>
          <a:bodyPr wrap="square" lIns="0" tIns="0" rIns="0" bIns="0" rtlCol="0" anchor="ctr"/>
          <a:lstStyle/>
          <a:p>
            <a:pPr marL="0" indent="0">
              <a:buNone/>
            </a:pPr>
            <a:r>
              <a:rPr lang="en-US" sz="1600" b="1" dirty="0">
                <a:solidFill>
                  <a:srgbClr val="0E7490"/>
                </a:solidFill>
                <a:latin typeface="맑은 고딕" pitchFamily="34" charset="0"/>
                <a:ea typeface="맑은 고딕" pitchFamily="34" charset="-122"/>
                <a:cs typeface="맑은 고딕" pitchFamily="34" charset="-120"/>
              </a:rPr>
              <a:t>2</a:t>
            </a:r>
            <a:endParaRPr lang="en-US" sz="1600" dirty="0"/>
          </a:p>
        </p:txBody>
      </p:sp>
      <p:sp>
        <p:nvSpPr>
          <p:cNvPr id="7" name="Text 5"/>
          <p:cNvSpPr/>
          <p:nvPr/>
        </p:nvSpPr>
        <p:spPr>
          <a:xfrm>
            <a:off x="950976" y="2999232"/>
            <a:ext cx="3931920" cy="365760"/>
          </a:xfrm>
          <a:prstGeom prst="rect">
            <a:avLst/>
          </a:prstGeom>
          <a:noFill/>
          <a:ln/>
        </p:spPr>
        <p:txBody>
          <a:bodyPr wrap="square" lIns="0" tIns="0" rIns="0" bIns="0" rtlCol="0" anchor="ctr"/>
          <a:lstStyle/>
          <a:p>
            <a:pPr marL="0" indent="0">
              <a:buNone/>
            </a:pPr>
            <a:r>
              <a:rPr lang="en-US" sz="2800" b="1" dirty="0">
                <a:solidFill>
                  <a:srgbClr val="14181A"/>
                </a:solidFill>
                <a:latin typeface="맑은 고딕" pitchFamily="34" charset="0"/>
                <a:ea typeface="맑은 고딕" pitchFamily="34" charset="-122"/>
                <a:cs typeface="맑은 고딕" pitchFamily="34" charset="-120"/>
              </a:rPr>
              <a:t>심을 작물을 바꿀 때</a:t>
            </a:r>
            <a:endParaRPr lang="en-US" sz="2800" dirty="0"/>
          </a:p>
        </p:txBody>
      </p:sp>
      <p:sp>
        <p:nvSpPr>
          <p:cNvPr id="8" name="Text 6"/>
          <p:cNvSpPr/>
          <p:nvPr/>
        </p:nvSpPr>
        <p:spPr>
          <a:xfrm>
            <a:off x="566928" y="3785616"/>
            <a:ext cx="329184" cy="329184"/>
          </a:xfrm>
          <a:prstGeom prst="rect">
            <a:avLst/>
          </a:prstGeom>
          <a:noFill/>
          <a:ln/>
        </p:spPr>
        <p:txBody>
          <a:bodyPr wrap="square" lIns="0" tIns="0" rIns="0" bIns="0" rtlCol="0" anchor="ctr"/>
          <a:lstStyle/>
          <a:p>
            <a:pPr marL="0" indent="0">
              <a:buNone/>
            </a:pPr>
            <a:r>
              <a:rPr lang="en-US" sz="1600" b="1" dirty="0">
                <a:solidFill>
                  <a:srgbClr val="0E7490"/>
                </a:solidFill>
                <a:latin typeface="맑은 고딕" pitchFamily="34" charset="0"/>
                <a:ea typeface="맑은 고딕" pitchFamily="34" charset="-122"/>
                <a:cs typeface="맑은 고딕" pitchFamily="34" charset="-120"/>
              </a:rPr>
              <a:t>3</a:t>
            </a:r>
            <a:endParaRPr lang="en-US" sz="1600" dirty="0"/>
          </a:p>
        </p:txBody>
      </p:sp>
      <p:sp>
        <p:nvSpPr>
          <p:cNvPr id="9" name="Text 7"/>
          <p:cNvSpPr/>
          <p:nvPr/>
        </p:nvSpPr>
        <p:spPr>
          <a:xfrm>
            <a:off x="950976" y="3785616"/>
            <a:ext cx="3931920" cy="365760"/>
          </a:xfrm>
          <a:prstGeom prst="rect">
            <a:avLst/>
          </a:prstGeom>
          <a:noFill/>
          <a:ln/>
        </p:spPr>
        <p:txBody>
          <a:bodyPr wrap="square" lIns="0" tIns="0" rIns="0" bIns="0" rtlCol="0" anchor="ctr"/>
          <a:lstStyle/>
          <a:p>
            <a:pPr marL="0" indent="0">
              <a:buNone/>
            </a:pPr>
            <a:r>
              <a:rPr lang="en-US" sz="2800" b="1" dirty="0">
                <a:solidFill>
                  <a:srgbClr val="14181A"/>
                </a:solidFill>
                <a:latin typeface="맑은 고딕" pitchFamily="34" charset="0"/>
                <a:ea typeface="맑은 고딕" pitchFamily="34" charset="-122"/>
                <a:cs typeface="맑은 고딕" pitchFamily="34" charset="-120"/>
              </a:rPr>
              <a:t>파종 전 가까운 기간</a:t>
            </a:r>
            <a:endParaRPr lang="en-US" sz="2800" dirty="0"/>
          </a:p>
        </p:txBody>
      </p:sp>
      <p:sp>
        <p:nvSpPr>
          <p:cNvPr id="10" name="Text 8"/>
          <p:cNvSpPr/>
          <p:nvPr/>
        </p:nvSpPr>
        <p:spPr>
          <a:xfrm>
            <a:off x="566928" y="4626864"/>
            <a:ext cx="4480560" cy="603504"/>
          </a:xfrm>
          <a:prstGeom prst="rect">
            <a:avLst/>
          </a:prstGeom>
          <a:noFill/>
          <a:ln/>
        </p:spPr>
        <p:txBody>
          <a:bodyPr wrap="square" lIns="0" tIns="0" rIns="0" bIns="0" rtlCol="0" anchor="t"/>
          <a:lstStyle/>
          <a:p>
            <a:pPr marL="0" indent="0">
              <a:lnSpc>
                <a:spcPct val="130000"/>
              </a:lnSpc>
              <a:buNone/>
            </a:pPr>
            <a:r>
              <a:rPr lang="en-US" sz="1250" dirty="0">
                <a:solidFill>
                  <a:srgbClr val="55636A"/>
                </a:solidFill>
                <a:latin typeface="맑은 고딕" pitchFamily="34" charset="0"/>
                <a:ea typeface="맑은 고딕" pitchFamily="34" charset="-122"/>
                <a:cs typeface="맑은 고딕" pitchFamily="34" charset="-120"/>
              </a:rPr>
              <a:t>농지는 즐겨찾기로 담아 두고, 브라우저에만 저장합니다. 서버로 보내지 않습니다.</a:t>
            </a:r>
            <a:endParaRPr lang="en-US" sz="1250" dirty="0"/>
          </a:p>
        </p:txBody>
      </p:sp>
      <p:pic>
        <p:nvPicPr>
          <p:cNvPr id="11" name="Image 0" descr="D:/Projects/batboda/발표/캡처/20260805_C09_내농지_즐겨찾기.png"/>
          <p:cNvPicPr>
            <a:picLocks noChangeAspect="1"/>
          </p:cNvPicPr>
          <p:nvPr/>
        </p:nvPicPr>
        <p:blipFill>
          <a:blip r:embed="rId3"/>
          <a:srcRect r="50801"/>
          <a:stretch>
            <a:fillRect/>
          </a:stretch>
        </p:blipFill>
        <p:spPr>
          <a:xfrm>
            <a:off x="5175503" y="2507017"/>
            <a:ext cx="5842659" cy="1816890"/>
          </a:xfrm>
          <a:prstGeom prst="rect">
            <a:avLst/>
          </a:prstGeom>
        </p:spPr>
      </p:pic>
      <p:sp>
        <p:nvSpPr>
          <p:cNvPr id="12" name="Shape 9"/>
          <p:cNvSpPr/>
          <p:nvPr/>
        </p:nvSpPr>
        <p:spPr>
          <a:xfrm>
            <a:off x="5175504" y="4754880"/>
            <a:ext cx="6455664" cy="1481328"/>
          </a:xfrm>
          <a:prstGeom prst="roundRect">
            <a:avLst>
              <a:gd name="adj" fmla="val 3704"/>
            </a:avLst>
          </a:prstGeom>
          <a:solidFill>
            <a:srgbClr val="FFFFFF"/>
          </a:solidFill>
          <a:ln w="12700">
            <a:solidFill>
              <a:srgbClr val="DDE4E6"/>
            </a:solidFill>
            <a:prstDash val="solid"/>
          </a:ln>
        </p:spPr>
        <p:txBody>
          <a:bodyPr/>
          <a:lstStyle/>
          <a:p>
            <a:endParaRPr lang="ko-KR" altLang="en-US"/>
          </a:p>
        </p:txBody>
      </p:sp>
      <p:sp>
        <p:nvSpPr>
          <p:cNvPr id="13" name="Shape 10"/>
          <p:cNvSpPr/>
          <p:nvPr/>
        </p:nvSpPr>
        <p:spPr>
          <a:xfrm>
            <a:off x="5376672" y="4901184"/>
            <a:ext cx="1170432" cy="329184"/>
          </a:xfrm>
          <a:prstGeom prst="roundRect">
            <a:avLst>
              <a:gd name="adj" fmla="val 50000"/>
            </a:avLst>
          </a:prstGeom>
          <a:solidFill>
            <a:srgbClr val="FBE7AB"/>
          </a:solidFill>
          <a:ln w="12700">
            <a:solidFill>
              <a:srgbClr val="E0C592"/>
            </a:solidFill>
            <a:prstDash val="solid"/>
          </a:ln>
        </p:spPr>
        <p:txBody>
          <a:bodyPr/>
          <a:lstStyle/>
          <a:p>
            <a:endParaRPr lang="ko-KR" altLang="en-US"/>
          </a:p>
        </p:txBody>
      </p:sp>
      <p:sp>
        <p:nvSpPr>
          <p:cNvPr id="14" name="Text 11"/>
          <p:cNvSpPr/>
          <p:nvPr/>
        </p:nvSpPr>
        <p:spPr>
          <a:xfrm>
            <a:off x="5376672" y="4901184"/>
            <a:ext cx="1170432" cy="329184"/>
          </a:xfrm>
          <a:prstGeom prst="rect">
            <a:avLst/>
          </a:prstGeom>
          <a:noFill/>
          <a:ln/>
        </p:spPr>
        <p:txBody>
          <a:bodyPr wrap="square" lIns="0" tIns="0" rIns="0" bIns="0" rtlCol="0" anchor="ctr"/>
          <a:lstStyle/>
          <a:p>
            <a:pPr marL="0" indent="0" algn="ctr">
              <a:buNone/>
            </a:pPr>
            <a:r>
              <a:rPr lang="ko-KR" altLang="en-US" sz="1150" b="1" dirty="0">
                <a:solidFill>
                  <a:srgbClr val="8A5806"/>
                </a:solidFill>
                <a:latin typeface="맑은 고딕" pitchFamily="34" charset="0"/>
                <a:ea typeface="맑은 고딕" pitchFamily="34" charset="-122"/>
                <a:cs typeface="맑은 고딕" pitchFamily="34" charset="-120"/>
              </a:rPr>
              <a:t>다음 검증</a:t>
            </a:r>
            <a:endParaRPr lang="en-US" sz="1150" dirty="0"/>
          </a:p>
        </p:txBody>
      </p:sp>
      <p:sp>
        <p:nvSpPr>
          <p:cNvPr id="15" name="Text 12"/>
          <p:cNvSpPr/>
          <p:nvPr/>
        </p:nvSpPr>
        <p:spPr>
          <a:xfrm>
            <a:off x="5376672" y="5303520"/>
            <a:ext cx="6053328" cy="786384"/>
          </a:xfrm>
          <a:prstGeom prst="rect">
            <a:avLst/>
          </a:prstGeom>
          <a:noFill/>
          <a:ln/>
        </p:spPr>
        <p:txBody>
          <a:bodyPr wrap="square" lIns="0" tIns="0" rIns="0" bIns="0" rtlCol="0" anchor="t"/>
          <a:lstStyle/>
          <a:p>
            <a:pPr>
              <a:lnSpc>
                <a:spcPct val="130000"/>
              </a:lnSpc>
            </a:pPr>
            <a:r>
              <a:rPr lang="ko-KR" altLang="en-US" sz="1250" dirty="0">
                <a:solidFill>
                  <a:srgbClr val="14181A"/>
                </a:solidFill>
                <a:latin typeface="맑은 고딕" pitchFamily="34" charset="0"/>
                <a:ea typeface="맑은 고딕" pitchFamily="34" charset="-122"/>
                <a:cs typeface="맑은 고딕" pitchFamily="34" charset="-120"/>
              </a:rPr>
              <a:t>지역을 넓힐 때 행정구역별로 자료를 따로 만들어 두지 않습니다</a:t>
            </a:r>
            <a:r>
              <a:rPr lang="en-US" altLang="ko-KR" sz="1250" dirty="0">
                <a:solidFill>
                  <a:srgbClr val="14181A"/>
                </a:solidFill>
                <a:latin typeface="맑은 고딕" pitchFamily="34" charset="0"/>
                <a:ea typeface="맑은 고딕" pitchFamily="34" charset="-122"/>
                <a:cs typeface="맑은 고딕" pitchFamily="34" charset="-120"/>
              </a:rPr>
              <a:t>. </a:t>
            </a:r>
            <a:r>
              <a:rPr lang="ko-KR" altLang="en-US" sz="1250" dirty="0">
                <a:solidFill>
                  <a:srgbClr val="14181A"/>
                </a:solidFill>
                <a:latin typeface="맑은 고딕" pitchFamily="34" charset="0"/>
                <a:ea typeface="맑은 고딕" pitchFamily="34" charset="-122"/>
                <a:cs typeface="맑은 고딕" pitchFamily="34" charset="-120"/>
              </a:rPr>
              <a:t>확인한 농지 단위로 그때 조회합니다</a:t>
            </a:r>
            <a:r>
              <a:rPr lang="en-US" altLang="ko-KR" sz="1250" dirty="0">
                <a:solidFill>
                  <a:srgbClr val="14181A"/>
                </a:solidFill>
                <a:latin typeface="맑은 고딕" pitchFamily="34" charset="0"/>
                <a:ea typeface="맑은 고딕" pitchFamily="34" charset="-122"/>
                <a:cs typeface="맑은 고딕" pitchFamily="34" charset="-120"/>
              </a:rPr>
              <a:t>. </a:t>
            </a:r>
            <a:r>
              <a:rPr lang="ko-KR" altLang="en-US" sz="1250" dirty="0">
                <a:solidFill>
                  <a:srgbClr val="14181A"/>
                </a:solidFill>
                <a:latin typeface="맑은 고딕" pitchFamily="34" charset="0"/>
                <a:ea typeface="맑은 고딕" pitchFamily="34" charset="-122"/>
                <a:cs typeface="맑은 고딕" pitchFamily="34" charset="-120"/>
              </a:rPr>
              <a:t>상담 창구에서 실제 계약 전 판단에 써 보고</a:t>
            </a:r>
            <a:r>
              <a:rPr lang="en-US" altLang="ko-KR" sz="1250" dirty="0">
                <a:solidFill>
                  <a:srgbClr val="14181A"/>
                </a:solidFill>
                <a:latin typeface="맑은 고딕" pitchFamily="34" charset="0"/>
                <a:ea typeface="맑은 고딕" pitchFamily="34" charset="-122"/>
                <a:cs typeface="맑은 고딕" pitchFamily="34" charset="-120"/>
              </a:rPr>
              <a:t>, </a:t>
            </a:r>
            <a:r>
              <a:rPr lang="ko-KR" altLang="en-US" sz="1250" dirty="0">
                <a:solidFill>
                  <a:srgbClr val="14181A"/>
                </a:solidFill>
                <a:latin typeface="맑은 고딕" pitchFamily="34" charset="0"/>
                <a:ea typeface="맑은 고딕" pitchFamily="34" charset="-122"/>
                <a:cs typeface="맑은 고딕" pitchFamily="34" charset="-120"/>
              </a:rPr>
              <a:t>판정이 현장과 맞았는지 확인하려 합니다</a:t>
            </a:r>
            <a:r>
              <a:rPr lang="en-US" altLang="ko-KR" sz="1250" dirty="0">
                <a:solidFill>
                  <a:srgbClr val="14181A"/>
                </a:solidFill>
                <a:latin typeface="맑은 고딕" pitchFamily="34" charset="0"/>
                <a:ea typeface="맑은 고딕" pitchFamily="34" charset="-122"/>
                <a:cs typeface="맑은 고딕" pitchFamily="34" charset="-120"/>
              </a:rPr>
              <a:t>.</a:t>
            </a:r>
            <a:endParaRPr lang="en-US" sz="1250" dirty="0"/>
          </a:p>
        </p:txBody>
      </p:sp>
      <p:sp>
        <p:nvSpPr>
          <p:cNvPr id="16" name="Text 13"/>
          <p:cNvSpPr/>
          <p:nvPr/>
        </p:nvSpPr>
        <p:spPr>
          <a:xfrm>
            <a:off x="10984687" y="6291072"/>
            <a:ext cx="640080" cy="274320"/>
          </a:xfrm>
          <a:prstGeom prst="rect">
            <a:avLst/>
          </a:prstGeom>
          <a:noFill/>
          <a:ln/>
        </p:spPr>
        <p:txBody>
          <a:bodyPr wrap="square" lIns="0" tIns="0" rIns="0" bIns="0" rtlCol="0" anchor="ctr"/>
          <a:lstStyle/>
          <a:p>
            <a:pPr marL="0" indent="0" algn="r">
              <a:buNone/>
            </a:pPr>
            <a:r>
              <a:rPr lang="en-US" sz="1100" b="1" dirty="0">
                <a:solidFill>
                  <a:srgbClr val="B9C4C7"/>
                </a:solidFill>
                <a:latin typeface="맑은 고딕" pitchFamily="34" charset="0"/>
                <a:ea typeface="맑은 고딕" pitchFamily="34" charset="-122"/>
                <a:cs typeface="맑은 고딕"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9FA"/>
        </a:solidFill>
        <a:effectLst/>
      </p:bgPr>
    </p:bg>
    <p:spTree>
      <p:nvGrpSpPr>
        <p:cNvPr id="1" name=""/>
        <p:cNvGrpSpPr/>
        <p:nvPr/>
      </p:nvGrpSpPr>
      <p:grpSpPr>
        <a:xfrm>
          <a:off x="0" y="0"/>
          <a:ext cx="0" cy="0"/>
          <a:chOff x="0" y="0"/>
          <a:chExt cx="0" cy="0"/>
        </a:xfrm>
      </p:grpSpPr>
      <p:sp>
        <p:nvSpPr>
          <p:cNvPr id="2" name="Text 0"/>
          <p:cNvSpPr/>
          <p:nvPr/>
        </p:nvSpPr>
        <p:spPr>
          <a:xfrm>
            <a:off x="8332927" y="384048"/>
            <a:ext cx="3291840" cy="256032"/>
          </a:xfrm>
          <a:prstGeom prst="rect">
            <a:avLst/>
          </a:prstGeom>
          <a:noFill/>
          <a:ln/>
        </p:spPr>
        <p:txBody>
          <a:bodyPr wrap="square" lIns="0" tIns="0" rIns="0" bIns="0" rtlCol="0" anchor="ctr"/>
          <a:lstStyle/>
          <a:p>
            <a:pPr marL="0" indent="0" algn="r">
              <a:buNone/>
            </a:pPr>
            <a:r>
              <a:rPr lang="en-US" sz="1100" b="1" dirty="0">
                <a:solidFill>
                  <a:srgbClr val="0E7490"/>
                </a:solidFill>
                <a:latin typeface="맑은 고딕" pitchFamily="34" charset="0"/>
                <a:ea typeface="맑은 고딕" pitchFamily="34" charset="-122"/>
                <a:cs typeface="맑은 고딕" pitchFamily="34" charset="-120"/>
              </a:rPr>
              <a:t>화면 근거 · 03 관측·판정 방식</a:t>
            </a:r>
            <a:endParaRPr lang="en-US" sz="1100" dirty="0"/>
          </a:p>
        </p:txBody>
      </p:sp>
      <p:sp>
        <p:nvSpPr>
          <p:cNvPr id="3" name="Text 1"/>
          <p:cNvSpPr/>
          <p:nvPr/>
        </p:nvSpPr>
        <p:spPr>
          <a:xfrm>
            <a:off x="566928" y="822960"/>
            <a:ext cx="11057839" cy="1234440"/>
          </a:xfrm>
          <a:prstGeom prst="rect">
            <a:avLst/>
          </a:prstGeom>
          <a:noFill/>
          <a:ln/>
        </p:spPr>
        <p:txBody>
          <a:bodyPr wrap="square" lIns="0" tIns="0" rIns="0" bIns="0" rtlCol="0" anchor="t"/>
          <a:lstStyle/>
          <a:p>
            <a:pPr marL="0" indent="0">
              <a:lnSpc>
                <a:spcPct val="118000"/>
              </a:lnSpc>
              <a:buNone/>
            </a:pPr>
            <a:r>
              <a:rPr lang="en-US" sz="2800" b="1" dirty="0">
                <a:solidFill>
                  <a:srgbClr val="14181A"/>
                </a:solidFill>
                <a:latin typeface="맑은 고딕" pitchFamily="34" charset="0"/>
                <a:ea typeface="맑은 고딕" pitchFamily="34" charset="-122"/>
                <a:cs typeface="맑은 고딕" pitchFamily="34" charset="-120"/>
              </a:rPr>
              <a:t>못 하는 것을 화면에 적어 두고, 다음 검증 순서를 정해 두었습니다</a:t>
            </a:r>
            <a:endParaRPr lang="en-US" sz="2800" dirty="0"/>
          </a:p>
        </p:txBody>
      </p:sp>
      <p:sp>
        <p:nvSpPr>
          <p:cNvPr id="4" name="Shape 2"/>
          <p:cNvSpPr/>
          <p:nvPr/>
        </p:nvSpPr>
        <p:spPr>
          <a:xfrm>
            <a:off x="566927" y="2157984"/>
            <a:ext cx="4936405" cy="896112"/>
          </a:xfrm>
          <a:prstGeom prst="roundRect">
            <a:avLst>
              <a:gd name="adj" fmla="val 6122"/>
            </a:avLst>
          </a:prstGeom>
          <a:solidFill>
            <a:srgbClr val="FFFFFF"/>
          </a:solidFill>
          <a:ln w="12700">
            <a:solidFill>
              <a:srgbClr val="DDE4E6"/>
            </a:solidFill>
            <a:prstDash val="solid"/>
          </a:ln>
        </p:spPr>
        <p:txBody>
          <a:bodyPr/>
          <a:lstStyle/>
          <a:p>
            <a:endParaRPr lang="ko-KR" altLang="en-US"/>
          </a:p>
        </p:txBody>
      </p:sp>
      <p:sp>
        <p:nvSpPr>
          <p:cNvPr id="5" name="Text 3"/>
          <p:cNvSpPr/>
          <p:nvPr/>
        </p:nvSpPr>
        <p:spPr>
          <a:xfrm>
            <a:off x="768096" y="2240280"/>
            <a:ext cx="2743200" cy="274320"/>
          </a:xfrm>
          <a:prstGeom prst="rect">
            <a:avLst/>
          </a:prstGeom>
          <a:noFill/>
          <a:ln/>
        </p:spPr>
        <p:txBody>
          <a:bodyPr wrap="square" lIns="0" tIns="0" rIns="0" bIns="0" rtlCol="0" anchor="ctr"/>
          <a:lstStyle/>
          <a:p>
            <a:pPr marL="0" indent="0">
              <a:buNone/>
            </a:pPr>
            <a:r>
              <a:rPr lang="en-US" sz="1300" b="1" dirty="0">
                <a:solidFill>
                  <a:srgbClr val="55636A"/>
                </a:solidFill>
                <a:latin typeface="맑은 고딕" pitchFamily="34" charset="0"/>
                <a:ea typeface="맑은 고딕" pitchFamily="34" charset="-122"/>
                <a:cs typeface="맑은 고딕" pitchFamily="34" charset="-120"/>
              </a:rPr>
              <a:t>토양 산도 조회율</a:t>
            </a:r>
            <a:endParaRPr lang="en-US" sz="1300" dirty="0"/>
          </a:p>
        </p:txBody>
      </p:sp>
      <p:sp>
        <p:nvSpPr>
          <p:cNvPr id="6" name="Text 4"/>
          <p:cNvSpPr/>
          <p:nvPr/>
        </p:nvSpPr>
        <p:spPr>
          <a:xfrm>
            <a:off x="768096" y="2505456"/>
            <a:ext cx="6309360" cy="274320"/>
          </a:xfrm>
          <a:prstGeom prst="rect">
            <a:avLst/>
          </a:prstGeom>
          <a:noFill/>
          <a:ln/>
        </p:spPr>
        <p:txBody>
          <a:bodyPr wrap="square" lIns="0" tIns="0" rIns="0" bIns="0" rtlCol="0" anchor="ctr"/>
          <a:lstStyle/>
          <a:p>
            <a:pPr marL="0" indent="0">
              <a:buNone/>
            </a:pPr>
            <a:r>
              <a:rPr lang="en-US" sz="1450" b="1" dirty="0">
                <a:solidFill>
                  <a:srgbClr val="14181A"/>
                </a:solidFill>
                <a:latin typeface="맑은 고딕" pitchFamily="34" charset="0"/>
                <a:ea typeface="맑은 고딕" pitchFamily="34" charset="-122"/>
                <a:cs typeface="맑은 고딕" pitchFamily="34" charset="-120"/>
              </a:rPr>
              <a:t>대관령 반경 1km · 258필지 중 18건 = 7.0%</a:t>
            </a:r>
            <a:endParaRPr lang="en-US" sz="1450" dirty="0"/>
          </a:p>
        </p:txBody>
      </p:sp>
      <p:sp>
        <p:nvSpPr>
          <p:cNvPr id="7" name="Text 5"/>
          <p:cNvSpPr/>
          <p:nvPr/>
        </p:nvSpPr>
        <p:spPr>
          <a:xfrm>
            <a:off x="768096" y="2761488"/>
            <a:ext cx="6309360" cy="256032"/>
          </a:xfrm>
          <a:prstGeom prst="rect">
            <a:avLst/>
          </a:prstGeom>
          <a:noFill/>
          <a:ln/>
        </p:spPr>
        <p:txBody>
          <a:bodyPr wrap="square" lIns="0" tIns="0" rIns="0" bIns="0" rtlCol="0" anchor="ctr"/>
          <a:lstStyle/>
          <a:p>
            <a:pPr marL="0" indent="0">
              <a:buNone/>
            </a:pPr>
            <a:r>
              <a:rPr lang="en-US" sz="1200" dirty="0">
                <a:solidFill>
                  <a:srgbClr val="55636A"/>
                </a:solidFill>
                <a:latin typeface="맑은 고딕" pitchFamily="34" charset="0"/>
                <a:ea typeface="맑은 고딕" pitchFamily="34" charset="-122"/>
                <a:cs typeface="맑은 고딕" pitchFamily="34" charset="-120"/>
              </a:rPr>
              <a:t>없는 값을 다른 농지에서 채우지 않습니다</a:t>
            </a:r>
            <a:endParaRPr lang="en-US" sz="1200" dirty="0"/>
          </a:p>
        </p:txBody>
      </p:sp>
      <p:sp>
        <p:nvSpPr>
          <p:cNvPr id="8" name="Shape 6"/>
          <p:cNvSpPr/>
          <p:nvPr/>
        </p:nvSpPr>
        <p:spPr>
          <a:xfrm>
            <a:off x="566928" y="3200400"/>
            <a:ext cx="4436872" cy="896112"/>
          </a:xfrm>
          <a:prstGeom prst="roundRect">
            <a:avLst>
              <a:gd name="adj" fmla="val 6122"/>
            </a:avLst>
          </a:prstGeom>
          <a:solidFill>
            <a:srgbClr val="FFFFFF"/>
          </a:solidFill>
          <a:ln w="12700">
            <a:solidFill>
              <a:srgbClr val="DDE4E6"/>
            </a:solidFill>
            <a:prstDash val="solid"/>
          </a:ln>
        </p:spPr>
        <p:txBody>
          <a:bodyPr/>
          <a:lstStyle/>
          <a:p>
            <a:endParaRPr lang="ko-KR" altLang="en-US"/>
          </a:p>
        </p:txBody>
      </p:sp>
      <p:sp>
        <p:nvSpPr>
          <p:cNvPr id="9" name="Text 7"/>
          <p:cNvSpPr/>
          <p:nvPr/>
        </p:nvSpPr>
        <p:spPr>
          <a:xfrm>
            <a:off x="768096" y="3282696"/>
            <a:ext cx="2743200" cy="274320"/>
          </a:xfrm>
          <a:prstGeom prst="rect">
            <a:avLst/>
          </a:prstGeom>
          <a:noFill/>
          <a:ln/>
        </p:spPr>
        <p:txBody>
          <a:bodyPr wrap="square" lIns="0" tIns="0" rIns="0" bIns="0" rtlCol="0" anchor="ctr"/>
          <a:lstStyle/>
          <a:p>
            <a:pPr marL="0" indent="0">
              <a:buNone/>
            </a:pPr>
            <a:r>
              <a:rPr lang="en-US" sz="1300" b="1" dirty="0">
                <a:solidFill>
                  <a:srgbClr val="55636A"/>
                </a:solidFill>
                <a:latin typeface="맑은 고딕" pitchFamily="34" charset="0"/>
                <a:ea typeface="맑은 고딕" pitchFamily="34" charset="-122"/>
                <a:cs typeface="맑은 고딕" pitchFamily="34" charset="-120"/>
              </a:rPr>
              <a:t>예보 기간</a:t>
            </a:r>
            <a:endParaRPr lang="en-US" sz="1300" dirty="0"/>
          </a:p>
        </p:txBody>
      </p:sp>
      <p:sp>
        <p:nvSpPr>
          <p:cNvPr id="10" name="Text 8"/>
          <p:cNvSpPr/>
          <p:nvPr/>
        </p:nvSpPr>
        <p:spPr>
          <a:xfrm>
            <a:off x="768096" y="3547872"/>
            <a:ext cx="6309360" cy="274320"/>
          </a:xfrm>
          <a:prstGeom prst="rect">
            <a:avLst/>
          </a:prstGeom>
          <a:noFill/>
          <a:ln/>
        </p:spPr>
        <p:txBody>
          <a:bodyPr wrap="square" lIns="0" tIns="0" rIns="0" bIns="0" rtlCol="0" anchor="ctr"/>
          <a:lstStyle/>
          <a:p>
            <a:pPr marL="0" indent="0">
              <a:buNone/>
            </a:pPr>
            <a:r>
              <a:rPr lang="en-US" sz="1450" b="1" dirty="0">
                <a:solidFill>
                  <a:srgbClr val="14181A"/>
                </a:solidFill>
                <a:latin typeface="맑은 고딕" pitchFamily="34" charset="0"/>
                <a:ea typeface="맑은 고딕" pitchFamily="34" charset="-122"/>
                <a:cs typeface="맑은 고딕" pitchFamily="34" charset="-120"/>
              </a:rPr>
              <a:t>3일 단기예보만 · 중기예보 미구현</a:t>
            </a:r>
            <a:endParaRPr lang="en-US" sz="1450" dirty="0"/>
          </a:p>
        </p:txBody>
      </p:sp>
      <p:sp>
        <p:nvSpPr>
          <p:cNvPr id="11" name="Text 9"/>
          <p:cNvSpPr/>
          <p:nvPr/>
        </p:nvSpPr>
        <p:spPr>
          <a:xfrm>
            <a:off x="768096" y="3803904"/>
            <a:ext cx="6309360" cy="256032"/>
          </a:xfrm>
          <a:prstGeom prst="rect">
            <a:avLst/>
          </a:prstGeom>
          <a:noFill/>
          <a:ln/>
        </p:spPr>
        <p:txBody>
          <a:bodyPr wrap="square" lIns="0" tIns="0" rIns="0" bIns="0" rtlCol="0" anchor="ctr"/>
          <a:lstStyle/>
          <a:p>
            <a:pPr marL="0" indent="0">
              <a:buNone/>
            </a:pPr>
            <a:r>
              <a:rPr lang="en-US" sz="1200" dirty="0">
                <a:solidFill>
                  <a:srgbClr val="55636A"/>
                </a:solidFill>
                <a:latin typeface="맑은 고딕" pitchFamily="34" charset="0"/>
                <a:ea typeface="맑은 고딕" pitchFamily="34" charset="-122"/>
                <a:cs typeface="맑은 고딕" pitchFamily="34" charset="-120"/>
              </a:rPr>
              <a:t>선택 기간을 넘는 위험은 말하지 않습니다</a:t>
            </a:r>
            <a:endParaRPr lang="en-US" sz="1200" dirty="0"/>
          </a:p>
        </p:txBody>
      </p:sp>
      <p:sp>
        <p:nvSpPr>
          <p:cNvPr id="12" name="Shape 10"/>
          <p:cNvSpPr/>
          <p:nvPr/>
        </p:nvSpPr>
        <p:spPr>
          <a:xfrm>
            <a:off x="566928" y="4242816"/>
            <a:ext cx="3903472" cy="896112"/>
          </a:xfrm>
          <a:prstGeom prst="roundRect">
            <a:avLst>
              <a:gd name="adj" fmla="val 6122"/>
            </a:avLst>
          </a:prstGeom>
          <a:solidFill>
            <a:srgbClr val="FFFFFF"/>
          </a:solidFill>
          <a:ln w="12700">
            <a:solidFill>
              <a:srgbClr val="DDE4E6"/>
            </a:solidFill>
            <a:prstDash val="solid"/>
          </a:ln>
        </p:spPr>
        <p:txBody>
          <a:bodyPr/>
          <a:lstStyle/>
          <a:p>
            <a:endParaRPr lang="ko-KR" altLang="en-US"/>
          </a:p>
        </p:txBody>
      </p:sp>
      <p:sp>
        <p:nvSpPr>
          <p:cNvPr id="13" name="Text 11"/>
          <p:cNvSpPr/>
          <p:nvPr/>
        </p:nvSpPr>
        <p:spPr>
          <a:xfrm>
            <a:off x="768096" y="4325112"/>
            <a:ext cx="2743200" cy="274320"/>
          </a:xfrm>
          <a:prstGeom prst="rect">
            <a:avLst/>
          </a:prstGeom>
          <a:noFill/>
          <a:ln/>
        </p:spPr>
        <p:txBody>
          <a:bodyPr wrap="square" lIns="0" tIns="0" rIns="0" bIns="0" rtlCol="0" anchor="ctr"/>
          <a:lstStyle/>
          <a:p>
            <a:pPr marL="0" indent="0">
              <a:buNone/>
            </a:pPr>
            <a:r>
              <a:rPr lang="en-US" sz="1300" b="1" dirty="0">
                <a:solidFill>
                  <a:srgbClr val="55636A"/>
                </a:solidFill>
                <a:latin typeface="맑은 고딕" pitchFamily="34" charset="0"/>
                <a:ea typeface="맑은 고딕" pitchFamily="34" charset="-122"/>
                <a:cs typeface="맑은 고딕" pitchFamily="34" charset="-120"/>
              </a:rPr>
              <a:t>가장 가까운 관측소</a:t>
            </a:r>
            <a:endParaRPr lang="en-US" sz="1300" dirty="0"/>
          </a:p>
        </p:txBody>
      </p:sp>
      <p:sp>
        <p:nvSpPr>
          <p:cNvPr id="14" name="Text 12"/>
          <p:cNvSpPr/>
          <p:nvPr/>
        </p:nvSpPr>
        <p:spPr>
          <a:xfrm>
            <a:off x="768096" y="4590288"/>
            <a:ext cx="6309360" cy="274320"/>
          </a:xfrm>
          <a:prstGeom prst="rect">
            <a:avLst/>
          </a:prstGeom>
          <a:noFill/>
          <a:ln/>
        </p:spPr>
        <p:txBody>
          <a:bodyPr wrap="square" lIns="0" tIns="0" rIns="0" bIns="0" rtlCol="0" anchor="ctr"/>
          <a:lstStyle/>
          <a:p>
            <a:pPr marL="0" indent="0">
              <a:buNone/>
            </a:pPr>
            <a:r>
              <a:rPr lang="en-US" sz="1450" b="1" dirty="0">
                <a:solidFill>
                  <a:srgbClr val="14181A"/>
                </a:solidFill>
                <a:latin typeface="맑은 고딕" pitchFamily="34" charset="0"/>
                <a:ea typeface="맑은 고딕" pitchFamily="34" charset="-122"/>
                <a:cs typeface="맑은 고딕" pitchFamily="34" charset="-120"/>
              </a:rPr>
              <a:t>6.45km · 강릉 안반덕이</a:t>
            </a:r>
            <a:endParaRPr lang="en-US" sz="1450" dirty="0"/>
          </a:p>
        </p:txBody>
      </p:sp>
      <p:sp>
        <p:nvSpPr>
          <p:cNvPr id="15" name="Text 13"/>
          <p:cNvSpPr/>
          <p:nvPr/>
        </p:nvSpPr>
        <p:spPr>
          <a:xfrm>
            <a:off x="768096" y="4846320"/>
            <a:ext cx="6309360" cy="256032"/>
          </a:xfrm>
          <a:prstGeom prst="rect">
            <a:avLst/>
          </a:prstGeom>
          <a:noFill/>
          <a:ln/>
        </p:spPr>
        <p:txBody>
          <a:bodyPr wrap="square" lIns="0" tIns="0" rIns="0" bIns="0" rtlCol="0" anchor="ctr"/>
          <a:lstStyle/>
          <a:p>
            <a:pPr marL="0" indent="0">
              <a:buNone/>
            </a:pPr>
            <a:r>
              <a:rPr lang="en-US" sz="1200" dirty="0">
                <a:solidFill>
                  <a:srgbClr val="55636A"/>
                </a:solidFill>
                <a:latin typeface="맑은 고딕" pitchFamily="34" charset="0"/>
                <a:ea typeface="맑은 고딕" pitchFamily="34" charset="-122"/>
                <a:cs typeface="맑은 고딕" pitchFamily="34" charset="-120"/>
              </a:rPr>
              <a:t>거리를 적고 점수에 넣지 않습니다</a:t>
            </a:r>
            <a:endParaRPr lang="en-US" sz="1200" dirty="0"/>
          </a:p>
        </p:txBody>
      </p:sp>
      <p:sp>
        <p:nvSpPr>
          <p:cNvPr id="16" name="Text 14"/>
          <p:cNvSpPr/>
          <p:nvPr/>
        </p:nvSpPr>
        <p:spPr>
          <a:xfrm>
            <a:off x="566928" y="5358384"/>
            <a:ext cx="6675120" cy="310896"/>
          </a:xfrm>
          <a:prstGeom prst="rect">
            <a:avLst/>
          </a:prstGeom>
          <a:noFill/>
          <a:ln/>
        </p:spPr>
        <p:txBody>
          <a:bodyPr wrap="square" lIns="0" tIns="0" rIns="0" bIns="0" rtlCol="0" anchor="ctr"/>
          <a:lstStyle/>
          <a:p>
            <a:pPr marL="0" indent="0">
              <a:buNone/>
            </a:pPr>
            <a:r>
              <a:rPr lang="en-US" sz="1450" b="1" dirty="0">
                <a:solidFill>
                  <a:srgbClr val="B13327"/>
                </a:solidFill>
                <a:latin typeface="맑은 고딕" pitchFamily="34" charset="0"/>
                <a:ea typeface="맑은 고딕" pitchFamily="34" charset="-122"/>
                <a:cs typeface="맑은 고딕" pitchFamily="34" charset="-120"/>
              </a:rPr>
              <a:t>현장 정확도는 아직 검증하지 않았습니다. 그래서 참고 판정으로 한정합니다.</a:t>
            </a:r>
            <a:endParaRPr lang="en-US" sz="1450" dirty="0"/>
          </a:p>
        </p:txBody>
      </p:sp>
      <p:pic>
        <p:nvPicPr>
          <p:cNvPr id="18" name="Image 1" descr="D:/Projects/batboda/발표/캡처/20260805_C11_현재판정방식.png"/>
          <p:cNvPicPr>
            <a:picLocks noChangeAspect="1"/>
          </p:cNvPicPr>
          <p:nvPr/>
        </p:nvPicPr>
        <p:blipFill>
          <a:blip r:embed="rId3"/>
          <a:stretch>
            <a:fillRect/>
          </a:stretch>
        </p:blipFill>
        <p:spPr>
          <a:xfrm>
            <a:off x="5595334" y="1601893"/>
            <a:ext cx="6029433" cy="2549483"/>
          </a:xfrm>
          <a:prstGeom prst="rect">
            <a:avLst/>
          </a:prstGeom>
        </p:spPr>
      </p:pic>
      <p:sp>
        <p:nvSpPr>
          <p:cNvPr id="19" name="Text 15"/>
          <p:cNvSpPr/>
          <p:nvPr/>
        </p:nvSpPr>
        <p:spPr>
          <a:xfrm>
            <a:off x="10984687" y="6291072"/>
            <a:ext cx="640080" cy="274320"/>
          </a:xfrm>
          <a:prstGeom prst="rect">
            <a:avLst/>
          </a:prstGeom>
          <a:noFill/>
          <a:ln/>
        </p:spPr>
        <p:txBody>
          <a:bodyPr wrap="square" lIns="0" tIns="0" rIns="0" bIns="0" rtlCol="0" anchor="ctr"/>
          <a:lstStyle/>
          <a:p>
            <a:pPr marL="0" indent="0" algn="r">
              <a:buNone/>
            </a:pPr>
            <a:r>
              <a:rPr lang="en-US" sz="1100" b="1" dirty="0">
                <a:solidFill>
                  <a:srgbClr val="B9C4C7"/>
                </a:solidFill>
                <a:latin typeface="맑은 고딕" pitchFamily="34" charset="0"/>
                <a:ea typeface="맑은 고딕" pitchFamily="34" charset="-122"/>
                <a:cs typeface="맑은 고딕" pitchFamily="34" charset="-120"/>
              </a:rPr>
              <a:t>08</a:t>
            </a:r>
            <a:endParaRPr lang="en-US" sz="1100" dirty="0"/>
          </a:p>
        </p:txBody>
      </p:sp>
      <p:pic>
        <p:nvPicPr>
          <p:cNvPr id="21" name="Image 0" descr="D:/Projects/batboda/발표/캡처/20260805_C10_최근관측_관측소거리.png">
            <a:extLst>
              <a:ext uri="{FF2B5EF4-FFF2-40B4-BE49-F238E27FC236}">
                <a16:creationId xmlns:a16="http://schemas.microsoft.com/office/drawing/2014/main" id="{73994124-3F0F-59AA-68D3-483AA3E04DD5}"/>
              </a:ext>
            </a:extLst>
          </p:cNvPr>
          <p:cNvPicPr>
            <a:picLocks noChangeAspect="1"/>
          </p:cNvPicPr>
          <p:nvPr/>
        </p:nvPicPr>
        <p:blipFill>
          <a:blip r:embed="rId4"/>
          <a:stretch>
            <a:fillRect/>
          </a:stretch>
        </p:blipFill>
        <p:spPr>
          <a:xfrm>
            <a:off x="4791456" y="4123325"/>
            <a:ext cx="6817765" cy="113278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262E"/>
        </a:solidFill>
        <a:effectLst/>
      </p:bgPr>
    </p:bg>
    <p:spTree>
      <p:nvGrpSpPr>
        <p:cNvPr id="1" name=""/>
        <p:cNvGrpSpPr/>
        <p:nvPr/>
      </p:nvGrpSpPr>
      <p:grpSpPr>
        <a:xfrm>
          <a:off x="0" y="0"/>
          <a:ext cx="0" cy="0"/>
          <a:chOff x="0" y="0"/>
          <a:chExt cx="0" cy="0"/>
        </a:xfrm>
      </p:grpSpPr>
      <p:sp>
        <p:nvSpPr>
          <p:cNvPr id="2" name="Text 0"/>
          <p:cNvSpPr/>
          <p:nvPr/>
        </p:nvSpPr>
        <p:spPr>
          <a:xfrm>
            <a:off x="566928" y="1737360"/>
            <a:ext cx="6309360" cy="1737360"/>
          </a:xfrm>
          <a:prstGeom prst="rect">
            <a:avLst/>
          </a:prstGeom>
          <a:noFill/>
          <a:ln/>
        </p:spPr>
        <p:txBody>
          <a:bodyPr wrap="square" lIns="0" tIns="0" rIns="0" bIns="0" rtlCol="0" anchor="t"/>
          <a:lstStyle/>
          <a:p>
            <a:pPr marL="0" indent="0">
              <a:lnSpc>
                <a:spcPct val="116000"/>
              </a:lnSpc>
              <a:buNone/>
            </a:pPr>
            <a:r>
              <a:rPr lang="en-US" sz="3100" b="1" dirty="0">
                <a:solidFill>
                  <a:srgbClr val="FFFFFF"/>
                </a:solidFill>
                <a:latin typeface="맑은 고딕" pitchFamily="34" charset="0"/>
                <a:ea typeface="맑은 고딕" pitchFamily="34" charset="-122"/>
                <a:cs typeface="맑은 고딕" pitchFamily="34" charset="-120"/>
              </a:rPr>
              <a:t>농지 경계부터 근거의 출처까지,</a:t>
            </a:r>
            <a:endParaRPr lang="en-US" sz="3100" dirty="0"/>
          </a:p>
          <a:p>
            <a:pPr marL="0" indent="0">
              <a:lnSpc>
                <a:spcPct val="116000"/>
              </a:lnSpc>
              <a:buNone/>
            </a:pPr>
            <a:r>
              <a:rPr lang="en-US" sz="3100" b="1" dirty="0">
                <a:solidFill>
                  <a:srgbClr val="FFFFFF"/>
                </a:solidFill>
                <a:latin typeface="맑은 고딕" pitchFamily="34" charset="0"/>
                <a:ea typeface="맑은 고딕" pitchFamily="34" charset="-122"/>
                <a:cs typeface="맑은 고딕" pitchFamily="34" charset="-120"/>
              </a:rPr>
              <a:t>내 땅 단위 참고 판정입니다</a:t>
            </a:r>
            <a:endParaRPr lang="en-US" sz="3100" dirty="0"/>
          </a:p>
        </p:txBody>
      </p:sp>
      <p:sp>
        <p:nvSpPr>
          <p:cNvPr id="3" name="Shape 1"/>
          <p:cNvSpPr/>
          <p:nvPr/>
        </p:nvSpPr>
        <p:spPr>
          <a:xfrm>
            <a:off x="566928" y="3357974"/>
            <a:ext cx="1847088" cy="921418"/>
          </a:xfrm>
          <a:prstGeom prst="roundRect">
            <a:avLst>
              <a:gd name="adj" fmla="val 50000"/>
            </a:avLst>
          </a:prstGeom>
          <a:solidFill>
            <a:srgbClr val="0891B2"/>
          </a:solidFill>
          <a:ln w="12700">
            <a:solidFill>
              <a:srgbClr val="0891B2"/>
            </a:solidFill>
            <a:prstDash val="solid"/>
          </a:ln>
        </p:spPr>
        <p:txBody>
          <a:bodyPr/>
          <a:lstStyle/>
          <a:p>
            <a:endParaRPr lang="ko-KR" altLang="en-US"/>
          </a:p>
        </p:txBody>
      </p:sp>
      <p:sp>
        <p:nvSpPr>
          <p:cNvPr id="4" name="Text 2"/>
          <p:cNvSpPr/>
          <p:nvPr/>
        </p:nvSpPr>
        <p:spPr>
          <a:xfrm>
            <a:off x="566928" y="3357974"/>
            <a:ext cx="1847088" cy="921418"/>
          </a:xfrm>
          <a:prstGeom prst="rect">
            <a:avLst/>
          </a:prstGeom>
          <a:noFill/>
          <a:ln/>
        </p:spPr>
        <p:txBody>
          <a:bodyPr wrap="square" lIns="0" tIns="0" rIns="0" bIns="0" rtlCol="0" anchor="ctr"/>
          <a:lstStyle/>
          <a:p>
            <a:pPr marL="0" indent="0" algn="ctr">
              <a:buNone/>
            </a:pPr>
            <a:r>
              <a:rPr lang="en-US" sz="3600" b="1" dirty="0">
                <a:solidFill>
                  <a:srgbClr val="FFFFFF"/>
                </a:solidFill>
                <a:latin typeface="맑은 고딕" pitchFamily="34" charset="0"/>
                <a:ea typeface="맑은 고딕" pitchFamily="34" charset="-122"/>
                <a:cs typeface="맑은 고딕" pitchFamily="34" charset="-120"/>
              </a:rPr>
              <a:t>밭보다</a:t>
            </a:r>
            <a:endParaRPr lang="en-US" sz="3600" dirty="0"/>
          </a:p>
        </p:txBody>
      </p:sp>
      <p:sp>
        <p:nvSpPr>
          <p:cNvPr id="5" name="Text 3"/>
          <p:cNvSpPr/>
          <p:nvPr/>
        </p:nvSpPr>
        <p:spPr>
          <a:xfrm>
            <a:off x="2615184" y="3608371"/>
            <a:ext cx="4023360" cy="420624"/>
          </a:xfrm>
          <a:prstGeom prst="rect">
            <a:avLst/>
          </a:prstGeom>
          <a:noFill/>
          <a:ln/>
        </p:spPr>
        <p:txBody>
          <a:bodyPr wrap="square" lIns="0" tIns="0" rIns="0" bIns="0" rtlCol="0" anchor="ctr"/>
          <a:lstStyle/>
          <a:p>
            <a:pPr marL="0" indent="0">
              <a:buNone/>
            </a:pPr>
            <a:r>
              <a:rPr lang="en-US" sz="1900" b="1" dirty="0">
                <a:solidFill>
                  <a:srgbClr val="CFFAFE"/>
                </a:solidFill>
                <a:latin typeface="맑은 고딕" pitchFamily="34" charset="0"/>
                <a:ea typeface="맑은 고딕" pitchFamily="34" charset="-122"/>
                <a:cs typeface="맑은 고딕" pitchFamily="34" charset="-120"/>
              </a:rPr>
              <a:t>batboda.vercel.app</a:t>
            </a:r>
            <a:endParaRPr lang="en-US" sz="1900" dirty="0"/>
          </a:p>
        </p:txBody>
      </p:sp>
      <p:sp>
        <p:nvSpPr>
          <p:cNvPr id="6" name="Text 4"/>
          <p:cNvSpPr/>
          <p:nvPr/>
        </p:nvSpPr>
        <p:spPr>
          <a:xfrm>
            <a:off x="566928" y="4590288"/>
            <a:ext cx="6309360" cy="310896"/>
          </a:xfrm>
          <a:prstGeom prst="rect">
            <a:avLst/>
          </a:prstGeom>
          <a:noFill/>
          <a:ln/>
        </p:spPr>
        <p:txBody>
          <a:bodyPr wrap="square" lIns="0" tIns="0" rIns="0" bIns="0" rtlCol="0" anchor="ctr"/>
          <a:lstStyle/>
          <a:p>
            <a:pPr marL="0" indent="0">
              <a:buNone/>
            </a:pPr>
            <a:r>
              <a:rPr lang="en-US" sz="2000" dirty="0">
                <a:solidFill>
                  <a:srgbClr val="A7C0C8"/>
                </a:solidFill>
                <a:latin typeface="맑은 고딕" pitchFamily="34" charset="0"/>
                <a:ea typeface="맑은 고딕" pitchFamily="34" charset="-122"/>
                <a:cs typeface="맑은 고딕" pitchFamily="34" charset="-120"/>
              </a:rPr>
              <a:t>지금 열어 보실 수 있습니다.</a:t>
            </a:r>
            <a:endParaRPr lang="en-US" sz="2000" dirty="0"/>
          </a:p>
        </p:txBody>
      </p:sp>
      <p:pic>
        <p:nvPicPr>
          <p:cNvPr id="7" name="Image 0" descr="D:/Projects/batboda/발표/캡처/20260805_C12_QR.png"/>
          <p:cNvPicPr>
            <a:picLocks noChangeAspect="1"/>
          </p:cNvPicPr>
          <p:nvPr/>
        </p:nvPicPr>
        <p:blipFill>
          <a:blip r:embed="rId3"/>
          <a:stretch>
            <a:fillRect/>
          </a:stretch>
        </p:blipFill>
        <p:spPr>
          <a:xfrm>
            <a:off x="7551251" y="617728"/>
            <a:ext cx="2103120" cy="2103120"/>
          </a:xfrm>
          <a:prstGeom prst="rect">
            <a:avLst/>
          </a:prstGeom>
        </p:spPr>
      </p:pic>
      <p:pic>
        <p:nvPicPr>
          <p:cNvPr id="8" name="Image 1" descr="D:/Projects/batboda/발표/캡처/20260805_C01_대관령85-61전_경계.png"/>
          <p:cNvPicPr>
            <a:picLocks noChangeAspect="1"/>
          </p:cNvPicPr>
          <p:nvPr/>
        </p:nvPicPr>
        <p:blipFill>
          <a:blip r:embed="rId4"/>
          <a:stretch>
            <a:fillRect/>
          </a:stretch>
        </p:blipFill>
        <p:spPr>
          <a:xfrm>
            <a:off x="5681134" y="3118445"/>
            <a:ext cx="5638800" cy="3172627"/>
          </a:xfrm>
          <a:prstGeom prst="rect">
            <a:avLst/>
          </a:prstGeom>
        </p:spPr>
      </p:pic>
      <p:sp>
        <p:nvSpPr>
          <p:cNvPr id="9" name="Text 5"/>
          <p:cNvSpPr/>
          <p:nvPr/>
        </p:nvSpPr>
        <p:spPr>
          <a:xfrm>
            <a:off x="10984687" y="6291072"/>
            <a:ext cx="640080" cy="274320"/>
          </a:xfrm>
          <a:prstGeom prst="rect">
            <a:avLst/>
          </a:prstGeom>
          <a:noFill/>
          <a:ln/>
        </p:spPr>
        <p:txBody>
          <a:bodyPr wrap="square" lIns="0" tIns="0" rIns="0" bIns="0" rtlCol="0" anchor="ctr"/>
          <a:lstStyle/>
          <a:p>
            <a:pPr marL="0" indent="0" algn="r">
              <a:buNone/>
            </a:pPr>
            <a:r>
              <a:rPr lang="en-US" sz="1100" b="1" dirty="0">
                <a:solidFill>
                  <a:srgbClr val="2B4550"/>
                </a:solidFill>
                <a:latin typeface="맑은 고딕" pitchFamily="34" charset="0"/>
                <a:ea typeface="맑은 고딕" pitchFamily="34" charset="-122"/>
                <a:cs typeface="맑은 고딕" pitchFamily="34" charset="-120"/>
              </a:rPr>
              <a:t>09</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TotalTime>
  <Words>1352</Words>
  <Application>Microsoft Office PowerPoint</Application>
  <PresentationFormat>와이드스크린</PresentationFormat>
  <Paragraphs>129</Paragraphs>
  <Slides>9</Slides>
  <Notes>9</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9</vt:i4>
      </vt:variant>
    </vt:vector>
  </HeadingPairs>
  <TitlesOfParts>
    <vt:vector size="12" baseType="lpstr">
      <vt:lpstr>맑은 고딕</vt:lpstr>
      <vt:lpstr>Arial</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밭보다 — 공공데이터 기반 농지 환경 판정</dc:title>
  <dc:subject>PptxGenJS Presentation</dc:subject>
  <dc:creator>김남궁택</dc:creator>
  <cp:lastModifiedBy>남궁도현</cp:lastModifiedBy>
  <cp:revision>13</cp:revision>
  <dcterms:created xsi:type="dcterms:W3CDTF">2026-08-05T02:08:44Z</dcterms:created>
  <dcterms:modified xsi:type="dcterms:W3CDTF">2026-08-05T02:49:30Z</dcterms:modified>
</cp:coreProperties>
</file>