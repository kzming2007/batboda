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
내 땅에 이 작물을 심어도 될까. 밭보다는 좌표가 아니라 농지 경계를 먼저 확인합니다. 그 필지번호의 토양과 그 좌표의 예보를 작물별 공식 기준에 대조합니다.
금지 — 팀 소개 길게, 귀농 인구·실패율 통계, 기관 로고, 기능 목록.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[22초]
농지, 토양, 예보는 서로 다른 기관이 서로 다른 단위와 시각으로 냅니다. 초보자는 이 네 화면을 각각 찾아 자기 농지 값을 골라내고 작물 기준과 직접 대조해야 합니다.
금지 — 「대부분의 서비스는 시·군 평균만 제공한다」, 기존 서비스 비교표, 다른 팀·기관 이름.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[18초]
이 다섯 고리가 밭보다입니다. 뒤에 이어지는 4분은 이 다섯 개가 설명이 아니라 배포된 화면에서 실제로 이어진다는 것을 보이는 데 씁니다.
이 장이 비교 기준을 남기는 장이다. 발표 순서 1번이므로 심사위원이 뒤의 다섯 팀을 볼 때 쓸 낱말을 여기서 심는다.
금지 — API 개수·아키텍처 도해, 「필지 단위 서비스는 밭보다뿐」, 제목 아래 추가 설명 문장.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[70초 · 라이브]
0~8초  지번과 경계를 사람이 확인합니다.
8~15초  토양은 이 필지번호로, 예보는 이 좌표로 가져옵니다.
15~28초  판정과 함께 어떤 근거가 좋음·주의인지, 네 갈래 공공데이터가 응답했는지 같이 공개합니다.
28~42초  평균기온이 상추 공식 기준 15~20℃를 얼마나 벗어났는지 눈금으로, 기관과 기준시각까지 확인합니다.
42~62초  04에서는 판정은 규칙이 정했다고 밝히고, AI가 근거와 먼저 할 일을 쉬운 말로 옮깁니다.
금지 — 분석 소요 시간 수치, 후보 건수, 「어느 농지나 5초 안에」, 위험 라벨을 대사에 고정, 등급과 저해요인을 한 원인처럼 합쳐 말하기, 실패 원인 설명(전환 문장으로 바로 넘어간다).
수치는 화면에 보이는 값을 읽는다. 외운 값을 말하지 않는다.
■ 5초 규칙 — 한 동작을 누르고 5초 안에 다음 화면이 안 나오면 기다리지 않는다.
■ 고정 전환 문장(그대로 말한다) — “지금은 저장된 검증 장면으로 이어가며, 서비스에서는 실시간과 검증 스냅샷, 시연 자료를 구분해 표시합니다.”
■ 실패 원인을 설명하지 않는다. 위 문장을 말하고 이 장의 다섯 조각을 순서대로 넘긴다.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같은 논 농지에서 사과를 고르면 과수 4급지, 상추를 고르면 밭 3급지를 씁니다. 작물을 바꾸면 근거가 갈립니다. 심사위원께서 다른 작물을 고르셔도 같은 방식으로 동작합니다.
이 장이 무대에서 실물로 보일 수 있는 가장 강한 판정 논리 증거다.
금지 — 필드 코드명, 등급 전수 표, 이 항목을 한계로 언급, 다른 서비스는 밭 등급만 쓴다는 추정.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결론 문장은 AI가 썼지만, 판정을 정한 것은 규칙입니다. AI에는 확정된 근거만 넘기고, 문장이 판정이나 숫자를 바꾸면 같은 근거의 규칙 문장으로 대체합니다.
회귀 테스트 수치는 당일 아침 재실행 결과로 말한다.
금지 — 「AI가 모든 숫자 오류를 차단한다」, 프롬프트 전문·검사 항목 나열, 모델 이름·버전 고정(화면 배지가 실제 모델을 표시한다), 560 시나리오를 정확도로 제시. 위험 라벨 변동(완화 60% · 보수 10%)은 질의응답에서만.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[30초]
운영에서 중요한 것은 잘 될 때가 아니라 안 될 때입니다. 실패한 소스만 대체하고 이유를 남깁니다. 8월 3일에 인증이 실제로 막혔을 때 이 경로로 판정까지 이어지는 것을 확인했습니다. 가정이 아니라 겪은 일입니다.
금지 — 운영비 0원·운영 인력 없음, 지역 확대 건수, 발표장에서 장애를 라이브로 재현, 401 화면을 조작해 만든 캡처.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농지 계약 전, 작물을 바꿀 때, 파종 전에 다시 옵니다. 재방문율은 아직 측정하지 않았습니다. 유료 고객과 확정 가격도 없습니다. 귀농귀촌센터·농업기술센터·농협 상담 창구를 첫 실증 파트너로 제안하고, 반복 사용이 확인되면 기관용 연간 라이선스를 검토하겠습니다.
「제안」과 「검토」를 반드시 말로도 붙인다. 금지 — 「센터가 매일 쓴다」, 기관 도입 확정, 시장 규모 수치, 라이선스 금액.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[26초]
세 가지만 말씀드립니다. 대관령 표본의 토양 산도 조회는 258필지 중 18건, 7.0%였고 없는 값을 다른 농지에서 채우지 않습니다. 예보는 3일이고, 관측소는 6.45km 떨어져 점수에 넣지 않습니다. 현장 정확도는 아직 없습니다. 그래서 참고 판정으로 한정합니다.
7.0%는 반드시 분모와 함께 말한다. 금지 — 한계 네 개 이상 나열(나머지는 질의응답), 과수·논 등급 미반영, 중기예보 구현 주장.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[12초]
내 농지를 경계로 확인하고, 같은 농지의 근거를 끝까지 되짚는 밭보다입니다. 지금 열어 보실 수 있습니다.
금지 — 새 기능·수치·로드맵, 감사 인사 전용 장, 팀 사진, 연락처.
여기서 멈추고 질의응답으로 넘어간다. 답변은 대본 v3 5절 28문.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9573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지역산업 문제기반 AI 해커톤 본선 · 기업 문제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1481328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 지역 평균이 아니라,</a:t>
            </a:r>
            <a:endParaRPr lang="en-US" sz="3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보고 있는</a:t>
            </a:r>
            <a:endParaRPr lang="en-US" sz="3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농지의 근거입니다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3739896"/>
            <a:ext cx="1847088" cy="905256"/>
          </a:xfrm>
          <a:prstGeom prst="roundRect">
            <a:avLst>
              <a:gd name="adj" fmla="val 23232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739896"/>
            <a:ext cx="1847088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615184" y="39776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기반 농지 환경 판정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김남궁택 · 남궁도현 · 김택명</a:t>
            </a:r>
            <a:endParaRPr lang="en-US" sz="1300" dirty="0"/>
          </a:p>
        </p:txBody>
      </p:sp>
      <p:pic>
        <p:nvPicPr>
          <p:cNvPr id="8" name="Image 0" descr="D:/Projects/batboda/발표/캡처/20260805_C01_대관령85-61전_경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3549" y="2286000"/>
            <a:ext cx="5915687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사용한 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없는 것이 아니라, 서로 다른 기관·단위에 있어</a:t>
            </a:r>
            <a:endParaRPr lang="en-US" sz="2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농지로 이어지지 않습니다</a:t>
            </a:r>
            <a:endParaRPr lang="en-US" sz="2700" dirty="0"/>
          </a:p>
        </p:txBody>
      </p:sp>
      <p:pic>
        <p:nvPicPr>
          <p:cNvPr id="4" name="Image 0" descr="D:/Projects/batboda/발표/캡처/20260805_C04_사용한자료_표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33" y="2596896"/>
            <a:ext cx="5363702" cy="3968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993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갈래 · 기관도 단위도 기준시각도 다릅니다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밭보다는 다섯 고리로 판정합니다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확인</a:t>
            </a:r>
            <a:endParaRPr lang="en-US" sz="1550" dirty="0"/>
          </a:p>
        </p:txBody>
      </p:sp>
      <p:pic>
        <p:nvPicPr>
          <p:cNvPr id="5" name="Image 0" descr="D:/Projects/batboda/발표/캡처/20260805_C01_대관령85-61전_경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611532"/>
            <a:ext cx="1918960" cy="1079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588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5164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85164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필지번호 토양</a:t>
            </a:r>
            <a:endParaRPr lang="en-US" sz="1550" dirty="0"/>
          </a:p>
        </p:txBody>
      </p:sp>
      <p:pic>
        <p:nvPicPr>
          <p:cNvPr id="9" name="Image 1" descr="D:/Projects/batboda/발표/캡처/20260805_C02_판정서_상단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648" y="3621677"/>
            <a:ext cx="1918960" cy="10593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7060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3636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3636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작물별 공식 등급</a:t>
            </a:r>
            <a:endParaRPr lang="en-US" sz="1550" dirty="0"/>
          </a:p>
        </p:txBody>
      </p:sp>
      <p:pic>
        <p:nvPicPr>
          <p:cNvPr id="13" name="Image 2" descr="D:/Projects/batboda/발표/캡처/20260805_C06_유방동870답_상추_밭등급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368" y="3450299"/>
            <a:ext cx="1918960" cy="14021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5532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2108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42108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예보</a:t>
            </a:r>
            <a:endParaRPr lang="en-US" sz="1550" dirty="0"/>
          </a:p>
        </p:txBody>
      </p:sp>
      <p:pic>
        <p:nvPicPr>
          <p:cNvPr id="17" name="Image 3" descr="D:/Projects/batboda/발표/캡처/20260805_C03_산도_기온_눈금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088" y="2943560"/>
            <a:ext cx="1918960" cy="24156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40047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705807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705807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추적</a:t>
            </a:r>
            <a:endParaRPr lang="en-US" sz="1550" dirty="0"/>
          </a:p>
        </p:txBody>
      </p:sp>
      <p:pic>
        <p:nvPicPr>
          <p:cNvPr id="21" name="Image 4" descr="D:/Projects/batboda/발표/캡처/20260805_C04b_상태_기준시각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5807" y="2837270"/>
            <a:ext cx="1918960" cy="26282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· 배포본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고리는 지금 배포된 서비스에서 실제로 이어집니다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44368" y="1527048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44368" y="1527048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batboda.vercel.app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944368" y="255117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대관령면 85-61전 · 상추 · 3일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6616" y="2889504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보실 순서</a:t>
            </a:r>
            <a:endParaRPr lang="en-US" sz="1400" dirty="0"/>
          </a:p>
        </p:txBody>
      </p:sp>
      <p:pic>
        <p:nvPicPr>
          <p:cNvPr id="8" name="Image 0" descr="D:/Projects/batboda/발표/캡처/20260805_C01_대관령85-61전_경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3815839"/>
            <a:ext cx="932688" cy="52477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12848" y="52303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경계</a:t>
            </a:r>
            <a:endParaRPr lang="en-US" sz="1100" dirty="0"/>
          </a:p>
        </p:txBody>
      </p:sp>
      <p:pic>
        <p:nvPicPr>
          <p:cNvPr id="10" name="Image 1" descr="D:/Projects/batboda/발표/캡처/20260805_C02_판정서_상단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3820770"/>
            <a:ext cx="932688" cy="5149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73552" y="52303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판정과 상태</a:t>
            </a:r>
            <a:endParaRPr lang="en-US" sz="1100" dirty="0"/>
          </a:p>
        </p:txBody>
      </p:sp>
      <p:pic>
        <p:nvPicPr>
          <p:cNvPr id="12" name="Image 2" descr="D:/Projects/batboda/발표/캡처/20260805_C03_산도_기온_눈금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3491179"/>
            <a:ext cx="932688" cy="11740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34256" y="52303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 대조</a:t>
            </a:r>
            <a:endParaRPr lang="en-US" sz="1100" dirty="0"/>
          </a:p>
        </p:txBody>
      </p:sp>
      <p:pic>
        <p:nvPicPr>
          <p:cNvPr id="14" name="Image 3" descr="D:/Projects/batboda/발표/캡처/20260805_C04_사용한자료_표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733185"/>
            <a:ext cx="932688" cy="69007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394960" y="52303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추적</a:t>
            </a:r>
            <a:endParaRPr lang="en-US" sz="1100" dirty="0"/>
          </a:p>
        </p:txBody>
      </p:sp>
      <p:pic>
        <p:nvPicPr>
          <p:cNvPr id="16" name="Image 4" descr="D:/Projects/batboda/발표/캡처/20260805_C07_04_상단_결론과근거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3714350"/>
            <a:ext cx="932688" cy="72774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55664" y="523036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쉬운 말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02 토양 적성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농지라도 작물이 바뀌면,</a:t>
            </a:r>
            <a:endParaRPr lang="en-US" sz="27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판정에 쓰는 공식 등급 자체가 바뀝니다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1057839" cy="512064"/>
          </a:xfrm>
          <a:prstGeom prst="roundRect">
            <a:avLst>
              <a:gd name="adj" fmla="val 10714"/>
            </a:avLst>
          </a:prstGeom>
          <a:solidFill>
            <a:srgbClr val="F1F4F5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103120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농지 · 경기 이천시 유방동 870답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47088" y="2834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47088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과수 4급지</a:t>
            </a:r>
            <a:endParaRPr lang="en-US" sz="1400" dirty="0"/>
          </a:p>
        </p:txBody>
      </p:sp>
      <p:pic>
        <p:nvPicPr>
          <p:cNvPr id="9" name="Image 0" descr="D:/Projects/batboda/발표/캡처/20260805_C05_유방동870답_사과_과수등급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605" y="3273552"/>
            <a:ext cx="3604117" cy="2633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51296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531456" y="2834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31456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3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 3급지</a:t>
            </a:r>
            <a:endParaRPr lang="en-US" sz="1400" dirty="0"/>
          </a:p>
        </p:txBody>
      </p:sp>
      <p:pic>
        <p:nvPicPr>
          <p:cNvPr id="13" name="Image 1" descr="D:/Projects/batboda/발표/캡처/20260805_C06_유방동870답_상추_밭등급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973" y="3273552"/>
            <a:ext cx="3604117" cy="2633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사과·배는 과수 등급, 상추·오이·감자는 밭 등급을 쓴다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04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규칙이 확정하고, AI는 그 근거를 초보자 말로 옮깁니다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검사에 걸리면 같은 근거의 규칙 문장으로 되돌아갑니다</a:t>
            </a:r>
            <a:endParaRPr lang="en-US" sz="1600" dirty="0"/>
          </a:p>
        </p:txBody>
      </p:sp>
      <p:pic>
        <p:nvPicPr>
          <p:cNvPr id="5" name="Image 0" descr="D:/Projects/batboda/발표/캡처/20260805_C07_04_상단_결론과근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709" y="2231136"/>
            <a:ext cx="3914158" cy="3054096"/>
          </a:xfrm>
          <a:prstGeom prst="rect">
            <a:avLst/>
          </a:prstGeom>
        </p:spPr>
      </p:pic>
      <p:pic>
        <p:nvPicPr>
          <p:cNvPr id="6" name="Image 1" descr="D:/Projects/batboda/발표/캡처/20260805_C08_설명생성_5단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93" y="3273552"/>
            <a:ext cx="7110374" cy="175564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5468112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49808" y="5541264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13파일 115건 회귀 테스트 통과 · 560 시나리오에서 주 판정 단계 변동 0/0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49808" y="5852160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회귀와 산식 민감도 근거이며, 현장 정확도 검증이 아닙니다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상태·기준시각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API가 죽어도 판단은 이어지고,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소스마다 상태와 기준시각을 따로 남깁니다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938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쓰는 세 가지 표시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803904" cy="713232"/>
          </a:xfrm>
          <a:prstGeom prst="roundRect">
            <a:avLst>
              <a:gd name="adj" fmla="val 7692"/>
            </a:avLst>
          </a:prstGeom>
          <a:solidFill>
            <a:srgbClr val="DCECDF"/>
          </a:solidFill>
          <a:ln w="12700">
            <a:solidFill>
              <a:srgbClr val="1C6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359152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6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연결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2651760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6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호출해 받은 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163824"/>
            <a:ext cx="3803904" cy="713232"/>
          </a:xfrm>
          <a:prstGeom prst="roundRect">
            <a:avLst>
              <a:gd name="adj" fmla="val 7692"/>
            </a:avLst>
          </a:prstGeom>
          <a:solidFill>
            <a:srgbClr val="CFFAFE"/>
          </a:solidFill>
          <a:ln w="12700">
            <a:solidFill>
              <a:srgbClr val="0B5A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236976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스냅샷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6" y="3529584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저장해 둔 실호출 응답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041648"/>
            <a:ext cx="3803904" cy="713232"/>
          </a:xfrm>
          <a:prstGeom prst="roundRect">
            <a:avLst>
              <a:gd name="adj" fmla="val 7692"/>
            </a:avLst>
          </a:prstGeom>
          <a:solidFill>
            <a:srgbClr val="FBE7AB"/>
          </a:solidFill>
          <a:ln w="12700">
            <a:solidFill>
              <a:srgbClr val="8A58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4114800"/>
            <a:ext cx="3465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시연용 자료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6" y="4407408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실데이터가 아님을 표시</a:t>
            </a:r>
            <a:endParaRPr lang="en-US" sz="1200" dirty="0"/>
          </a:p>
        </p:txBody>
      </p:sp>
      <p:pic>
        <p:nvPicPr>
          <p:cNvPr id="14" name="Image 0" descr="D:/Projects/batboda/발표/캡처/20260805_C04b_상태_기준시각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5424" y="1957945"/>
            <a:ext cx="3383280" cy="463375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101584" y="1938528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84464" y="2066544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2026-08-03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인증이 실제로 막혔습니다 (HTTP 401)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84464" y="2779776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소스만 대체하고 이유를 남기는 경로로 판정까지 이어지는 것을 그때 확인했습니다. 가정이 아니라 겪은 일입니다.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101584" y="402336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소스만 대체하고, 나머지는 실시간을 그대로 씁니다.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01 내 농지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사용은 매일이 아니라, 판단이 필요한 사건마다입니다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농지를 계약하기 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심을 작물을 바꿀 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3785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파종 전 가까운 기간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46268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농지는 즐겨찾기로 담아 두고, 브라우저에만 저장합니다. 서버로 보내지 않습니다.</a:t>
            </a:r>
            <a:endParaRPr lang="en-US" sz="1250" dirty="0"/>
          </a:p>
        </p:txBody>
      </p:sp>
      <p:pic>
        <p:nvPicPr>
          <p:cNvPr id="11" name="Image 0" descr="D:/Projects/batboda/발표/캡처/20260805_C09_내농지_즐겨찾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504" y="2907731"/>
            <a:ext cx="6455664" cy="98767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75504" y="4754880"/>
            <a:ext cx="645566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76672" y="4901184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FBE7AB"/>
          </a:solidFill>
          <a:ln w="12700">
            <a:solidFill>
              <a:srgbClr val="E0C59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76672" y="490118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제안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76672" y="5303520"/>
            <a:ext cx="6053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귀농귀촌센터·농업기술센터·농협 상담 창구를 첫 실증 파트너로 제안하고, 반복 사용이 확인되면 기관용 연간 라이선스를 검토하겠습니다.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관측·판정 방식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하는 것을 화면에 적어 두고, 다음 검증 순서를 정해 두었습니다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157984"/>
            <a:ext cx="4215384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토양 산도 조회율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505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대관령 반경 1km · 258필지 중 18건 = 7.0%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7614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값을 다른 농지에서 채우지 않습니다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502920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3282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예보 기간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35478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단기예보만 · 중기예보 미구현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8096" y="38039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기간을 넘는 위험은 말하지 않습니다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42816"/>
            <a:ext cx="5824728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4325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관측소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45902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6.45km · 강릉 안반덕이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" y="48463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적고 점수에 넣지 않습니다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35838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133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정확도는 아직 검증하지 않았습니다. 그래서 참고 판정으로 한정합니다.</a:t>
            </a:r>
            <a:endParaRPr lang="en-US" sz="1450" dirty="0"/>
          </a:p>
        </p:txBody>
      </p:sp>
      <p:pic>
        <p:nvPicPr>
          <p:cNvPr id="17" name="Image 0" descr="D:/Projects/batboda/발표/캡처/20260805_C10_최근관측_관측소거리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4" y="2597970"/>
            <a:ext cx="4169664" cy="692796"/>
          </a:xfrm>
          <a:prstGeom prst="rect">
            <a:avLst/>
          </a:prstGeom>
        </p:spPr>
      </p:pic>
      <p:pic>
        <p:nvPicPr>
          <p:cNvPr id="18" name="Image 1" descr="D:/Projects/batboda/발표/캡처/20260805_C11_현재판정방식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3882475"/>
            <a:ext cx="4169664" cy="176309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373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경계부터 근거의 출처까지,</a:t>
            </a:r>
            <a:endParaRPr lang="en-US" sz="31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땅 단위 참고 판정입니다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3858768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8587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615184" y="38587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batboda.vercel.app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45902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열어 보실 수 있습니다.</a:t>
            </a:r>
            <a:endParaRPr lang="en-US" sz="1500" dirty="0"/>
          </a:p>
        </p:txBody>
      </p:sp>
      <p:pic>
        <p:nvPicPr>
          <p:cNvPr id="7" name="Image 0" descr="D:/Projects/batboda/발표/캡처/20260805_C12_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7184" y="1481328"/>
            <a:ext cx="2103120" cy="2103120"/>
          </a:xfrm>
          <a:prstGeom prst="rect">
            <a:avLst/>
          </a:prstGeom>
        </p:spPr>
      </p:pic>
      <p:pic>
        <p:nvPicPr>
          <p:cNvPr id="8" name="Image 1" descr="D:/Projects/batboda/발표/캡처/20260805_C01_대관령85-61전_경계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8048" y="1941236"/>
            <a:ext cx="2103120" cy="1183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밭보다 — 공공데이터 기반 농지 환경 판정</dc:title>
  <dc:subject>PptxGenJS Presentation</dc:subject>
  <dc:creator>김남궁택</dc:creator>
  <cp:lastModifiedBy>김남궁택</cp:lastModifiedBy>
  <cp:revision>1</cp:revision>
  <dcterms:created xsi:type="dcterms:W3CDTF">2026-08-05T01:15:43Z</dcterms:created>
  <dcterms:modified xsi:type="dcterms:W3CDTF">2026-08-05T01:15:43Z</dcterms:modified>
</cp:coreProperties>
</file>